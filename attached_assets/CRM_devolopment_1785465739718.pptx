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93b7b9b9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93b7b9b9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93b7b9b9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93b7b9b9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93b7b9b9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93b7b9b9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93b7b9b91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93b7b9b91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93b7b9b9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93b7b9b9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947c960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947c960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947c960e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947c960e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947c960e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f947c960e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947c960e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947c960e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947c960e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947c960e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947c960e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947c960e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947c960e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947c960e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947c960e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947c960e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947c960e4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f947c960e4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947c960e4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947c960e4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947c960e4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947c960e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947c960e4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947c960e4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947c960e4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f947c960e4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947c960e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f947c960e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947c960e4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f947c960e4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947c960e4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f947c960e4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f947c960e4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f947c960e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947c960e4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947c960e4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f947c960e4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f947c960e4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f947c960e4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f947c960e4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947c960e4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f947c960e4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947c960e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f947c960e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52400" y="152400"/>
            <a:ext cx="7741921" cy="4838701"/>
          </a:xfrm>
          <a:prstGeom prst="rect">
            <a:avLst/>
          </a:prstGeom>
          <a:noFill/>
          <a:ln>
            <a:noFill/>
          </a:ln>
        </p:spPr>
      </p:pic>
      <p:sp>
        <p:nvSpPr>
          <p:cNvPr id="55" name="Google Shape;55;p13"/>
          <p:cNvSpPr/>
          <p:nvPr/>
        </p:nvSpPr>
        <p:spPr>
          <a:xfrm>
            <a:off x="83125" y="4085100"/>
            <a:ext cx="1852500" cy="6294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926275" y="4085100"/>
            <a:ext cx="42633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2"/>
                </a:solidFill>
              </a:rPr>
              <a:t>Remove the </a:t>
            </a:r>
            <a:r>
              <a:rPr lang="en" sz="1300">
                <a:solidFill>
                  <a:srgbClr val="FF0000"/>
                </a:solidFill>
              </a:rPr>
              <a:t>bracket - role</a:t>
            </a:r>
            <a:endParaRPr sz="1300">
              <a:solidFill>
                <a:srgbClr val="FF0000"/>
              </a:solidFill>
            </a:endParaRPr>
          </a:p>
          <a:p>
            <a:pPr indent="0" lvl="0" marL="0" rtl="0" algn="l">
              <a:spcBef>
                <a:spcPts val="0"/>
              </a:spcBef>
              <a:spcAft>
                <a:spcPts val="0"/>
              </a:spcAft>
              <a:buNone/>
            </a:pPr>
            <a:r>
              <a:t/>
            </a:r>
            <a:endParaRPr sz="1300">
              <a:solidFill>
                <a:schemeClr val="dk2"/>
              </a:solidFill>
            </a:endParaRPr>
          </a:p>
        </p:txBody>
      </p:sp>
      <p:cxnSp>
        <p:nvCxnSpPr>
          <p:cNvPr id="57" name="Google Shape;57;p13"/>
          <p:cNvCxnSpPr/>
          <p:nvPr/>
        </p:nvCxnSpPr>
        <p:spPr>
          <a:xfrm flipH="1" rot="10800000">
            <a:off x="1994300" y="1064075"/>
            <a:ext cx="550800" cy="654900"/>
          </a:xfrm>
          <a:prstGeom prst="straightConnector1">
            <a:avLst/>
          </a:prstGeom>
          <a:noFill/>
          <a:ln cap="flat" cmpd="sng" w="9525">
            <a:solidFill>
              <a:schemeClr val="dk2"/>
            </a:solidFill>
            <a:prstDash val="solid"/>
            <a:round/>
            <a:headEnd len="med" w="med" type="none"/>
            <a:tailEnd len="med" w="med" type="none"/>
          </a:ln>
        </p:spPr>
      </p:cxnSp>
      <p:sp>
        <p:nvSpPr>
          <p:cNvPr id="58" name="Google Shape;58;p13"/>
          <p:cNvSpPr txBox="1"/>
          <p:nvPr/>
        </p:nvSpPr>
        <p:spPr>
          <a:xfrm>
            <a:off x="2545100" y="952500"/>
            <a:ext cx="1587600" cy="2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Remove </a:t>
            </a:r>
            <a:r>
              <a:rPr lang="en" sz="700">
                <a:solidFill>
                  <a:srgbClr val="FF0000"/>
                </a:solidFill>
              </a:rPr>
              <a:t>3 leads in scope </a:t>
            </a:r>
            <a:endParaRPr sz="700">
              <a:solidFill>
                <a:srgbClr val="FF0000"/>
              </a:solidFill>
            </a:endParaRPr>
          </a:p>
        </p:txBody>
      </p:sp>
      <p:sp>
        <p:nvSpPr>
          <p:cNvPr id="59" name="Google Shape;59;p13"/>
          <p:cNvSpPr/>
          <p:nvPr/>
        </p:nvSpPr>
        <p:spPr>
          <a:xfrm>
            <a:off x="2257775" y="2266600"/>
            <a:ext cx="837900" cy="710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txBox="1"/>
          <p:nvPr/>
        </p:nvSpPr>
        <p:spPr>
          <a:xfrm>
            <a:off x="2264125" y="2351250"/>
            <a:ext cx="796200" cy="2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Remove 3 leads in scope </a:t>
            </a:r>
            <a:endParaRPr sz="7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2575300" y="88150"/>
            <a:ext cx="5609100" cy="2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Dashboard - </a:t>
            </a:r>
            <a:r>
              <a:rPr lang="en" sz="800">
                <a:solidFill>
                  <a:schemeClr val="dk2"/>
                </a:solidFill>
              </a:rPr>
              <a:t>Generally should show the current month status </a:t>
            </a:r>
            <a:endParaRPr sz="800">
              <a:solidFill>
                <a:schemeClr val="dk2"/>
              </a:solidFill>
            </a:endParaRPr>
          </a:p>
        </p:txBody>
      </p:sp>
      <p:sp>
        <p:nvSpPr>
          <p:cNvPr id="66" name="Google Shape;66;p14"/>
          <p:cNvSpPr txBox="1"/>
          <p:nvPr/>
        </p:nvSpPr>
        <p:spPr>
          <a:xfrm>
            <a:off x="61750" y="566900"/>
            <a:ext cx="5556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Sales</a:t>
            </a:r>
            <a:endParaRPr b="1" sz="1000">
              <a:solidFill>
                <a:schemeClr val="dk2"/>
              </a:solidFill>
            </a:endParaRPr>
          </a:p>
        </p:txBody>
      </p:sp>
      <p:sp>
        <p:nvSpPr>
          <p:cNvPr id="67" name="Google Shape;67;p14"/>
          <p:cNvSpPr/>
          <p:nvPr/>
        </p:nvSpPr>
        <p:spPr>
          <a:xfrm>
            <a:off x="899575" y="555625"/>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nvSpPr>
        <p:spPr>
          <a:xfrm>
            <a:off x="899575" y="566900"/>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Over all </a:t>
            </a:r>
            <a:endParaRPr sz="1000">
              <a:solidFill>
                <a:schemeClr val="dk2"/>
              </a:solidFill>
            </a:endParaRPr>
          </a:p>
        </p:txBody>
      </p:sp>
      <p:sp>
        <p:nvSpPr>
          <p:cNvPr id="69" name="Google Shape;69;p14"/>
          <p:cNvSpPr txBox="1"/>
          <p:nvPr/>
        </p:nvSpPr>
        <p:spPr>
          <a:xfrm>
            <a:off x="899575" y="1014325"/>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active and onhold project no + project value</a:t>
            </a:r>
            <a:endParaRPr sz="1000">
              <a:solidFill>
                <a:schemeClr val="dk2"/>
              </a:solidFill>
            </a:endParaRPr>
          </a:p>
        </p:txBody>
      </p:sp>
      <p:sp>
        <p:nvSpPr>
          <p:cNvPr id="70" name="Google Shape;70;p14"/>
          <p:cNvSpPr/>
          <p:nvPr/>
        </p:nvSpPr>
        <p:spPr>
          <a:xfrm>
            <a:off x="1995656" y="566914"/>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txBox="1"/>
          <p:nvPr/>
        </p:nvSpPr>
        <p:spPr>
          <a:xfrm>
            <a:off x="1995656" y="578189"/>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High Intent</a:t>
            </a:r>
            <a:endParaRPr sz="1000">
              <a:solidFill>
                <a:schemeClr val="dk2"/>
              </a:solidFill>
            </a:endParaRPr>
          </a:p>
        </p:txBody>
      </p:sp>
      <p:sp>
        <p:nvSpPr>
          <p:cNvPr id="72" name="Google Shape;72;p14"/>
          <p:cNvSpPr txBox="1"/>
          <p:nvPr/>
        </p:nvSpPr>
        <p:spPr>
          <a:xfrm>
            <a:off x="1986836" y="106089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No of active project +value</a:t>
            </a:r>
            <a:endParaRPr sz="1000">
              <a:solidFill>
                <a:schemeClr val="dk2"/>
              </a:solidFill>
            </a:endParaRPr>
          </a:p>
        </p:txBody>
      </p:sp>
      <p:sp>
        <p:nvSpPr>
          <p:cNvPr id="73" name="Google Shape;73;p14"/>
          <p:cNvSpPr/>
          <p:nvPr/>
        </p:nvSpPr>
        <p:spPr>
          <a:xfrm>
            <a:off x="3144653" y="560564"/>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4"/>
          <p:cNvSpPr txBox="1"/>
          <p:nvPr/>
        </p:nvSpPr>
        <p:spPr>
          <a:xfrm>
            <a:off x="3144653" y="571839"/>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Current month Target  - Value</a:t>
            </a:r>
            <a:endParaRPr sz="1000">
              <a:solidFill>
                <a:schemeClr val="dk2"/>
              </a:solidFill>
            </a:endParaRPr>
          </a:p>
        </p:txBody>
      </p:sp>
      <p:sp>
        <p:nvSpPr>
          <p:cNvPr id="75" name="Google Shape;75;p14"/>
          <p:cNvSpPr/>
          <p:nvPr/>
        </p:nvSpPr>
        <p:spPr>
          <a:xfrm>
            <a:off x="4258372" y="545394"/>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txBox="1"/>
          <p:nvPr/>
        </p:nvSpPr>
        <p:spPr>
          <a:xfrm>
            <a:off x="4258372" y="556669"/>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Achieved</a:t>
            </a:r>
            <a:endParaRPr sz="1000">
              <a:solidFill>
                <a:schemeClr val="dk2"/>
              </a:solidFill>
            </a:endParaRPr>
          </a:p>
        </p:txBody>
      </p:sp>
      <p:sp>
        <p:nvSpPr>
          <p:cNvPr id="77" name="Google Shape;77;p14"/>
          <p:cNvSpPr/>
          <p:nvPr/>
        </p:nvSpPr>
        <p:spPr>
          <a:xfrm>
            <a:off x="5407370" y="539044"/>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4"/>
          <p:cNvSpPr txBox="1"/>
          <p:nvPr/>
        </p:nvSpPr>
        <p:spPr>
          <a:xfrm>
            <a:off x="5407370" y="550319"/>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Pending</a:t>
            </a:r>
            <a:endParaRPr sz="1000">
              <a:solidFill>
                <a:schemeClr val="dk2"/>
              </a:solidFill>
            </a:endParaRPr>
          </a:p>
        </p:txBody>
      </p:sp>
      <p:sp>
        <p:nvSpPr>
          <p:cNvPr id="79" name="Google Shape;79;p14"/>
          <p:cNvSpPr/>
          <p:nvPr/>
        </p:nvSpPr>
        <p:spPr>
          <a:xfrm>
            <a:off x="6521089" y="550333"/>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4"/>
          <p:cNvSpPr txBox="1"/>
          <p:nvPr/>
        </p:nvSpPr>
        <p:spPr>
          <a:xfrm>
            <a:off x="6521089" y="561608"/>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Cash collected</a:t>
            </a:r>
            <a:endParaRPr sz="1000">
              <a:solidFill>
                <a:schemeClr val="dk2"/>
              </a:solidFill>
            </a:endParaRPr>
          </a:p>
        </p:txBody>
      </p:sp>
      <p:sp>
        <p:nvSpPr>
          <p:cNvPr id="81" name="Google Shape;81;p14"/>
          <p:cNvSpPr txBox="1"/>
          <p:nvPr/>
        </p:nvSpPr>
        <p:spPr>
          <a:xfrm>
            <a:off x="117136" y="1883467"/>
            <a:ext cx="5556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PO</a:t>
            </a:r>
            <a:endParaRPr b="1" sz="1000">
              <a:solidFill>
                <a:schemeClr val="dk2"/>
              </a:solidFill>
            </a:endParaRPr>
          </a:p>
        </p:txBody>
      </p:sp>
      <p:sp>
        <p:nvSpPr>
          <p:cNvPr id="82" name="Google Shape;82;p14"/>
          <p:cNvSpPr/>
          <p:nvPr/>
        </p:nvSpPr>
        <p:spPr>
          <a:xfrm>
            <a:off x="857947" y="1810456"/>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4"/>
          <p:cNvSpPr txBox="1"/>
          <p:nvPr/>
        </p:nvSpPr>
        <p:spPr>
          <a:xfrm>
            <a:off x="857947" y="1821731"/>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Over all </a:t>
            </a:r>
            <a:endParaRPr sz="1000">
              <a:solidFill>
                <a:schemeClr val="dk2"/>
              </a:solidFill>
            </a:endParaRPr>
          </a:p>
        </p:txBody>
      </p:sp>
      <p:sp>
        <p:nvSpPr>
          <p:cNvPr id="84" name="Google Shape;84;p14"/>
          <p:cNvSpPr txBox="1"/>
          <p:nvPr/>
        </p:nvSpPr>
        <p:spPr>
          <a:xfrm>
            <a:off x="875586" y="2198600"/>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active and onhold project no + project value</a:t>
            </a:r>
            <a:endParaRPr sz="1000">
              <a:solidFill>
                <a:schemeClr val="dk2"/>
              </a:solidFill>
            </a:endParaRPr>
          </a:p>
        </p:txBody>
      </p:sp>
      <p:sp>
        <p:nvSpPr>
          <p:cNvPr id="85" name="Google Shape;85;p14"/>
          <p:cNvSpPr/>
          <p:nvPr/>
        </p:nvSpPr>
        <p:spPr>
          <a:xfrm>
            <a:off x="2015764" y="1812925"/>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4"/>
          <p:cNvSpPr txBox="1"/>
          <p:nvPr/>
        </p:nvSpPr>
        <p:spPr>
          <a:xfrm>
            <a:off x="2015764" y="1824200"/>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High Intent</a:t>
            </a:r>
            <a:endParaRPr sz="1000">
              <a:solidFill>
                <a:schemeClr val="dk2"/>
              </a:solidFill>
            </a:endParaRPr>
          </a:p>
        </p:txBody>
      </p:sp>
      <p:sp>
        <p:nvSpPr>
          <p:cNvPr id="87" name="Google Shape;87;p14"/>
          <p:cNvSpPr txBox="1"/>
          <p:nvPr/>
        </p:nvSpPr>
        <p:spPr>
          <a:xfrm>
            <a:off x="2006944" y="2306903"/>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No of active project (</a:t>
            </a:r>
            <a:r>
              <a:rPr lang="en" sz="800">
                <a:solidFill>
                  <a:schemeClr val="dk2"/>
                </a:solidFill>
              </a:rPr>
              <a:t>with sign off timeline falls on this month cycle) </a:t>
            </a:r>
            <a:r>
              <a:rPr lang="en" sz="1000">
                <a:solidFill>
                  <a:schemeClr val="dk2"/>
                </a:solidFill>
              </a:rPr>
              <a:t>+value</a:t>
            </a:r>
            <a:endParaRPr sz="1000">
              <a:solidFill>
                <a:schemeClr val="dk2"/>
              </a:solidFill>
            </a:endParaRPr>
          </a:p>
        </p:txBody>
      </p:sp>
      <p:sp>
        <p:nvSpPr>
          <p:cNvPr id="88" name="Google Shape;88;p14"/>
          <p:cNvSpPr/>
          <p:nvPr/>
        </p:nvSpPr>
        <p:spPr>
          <a:xfrm>
            <a:off x="3138303" y="1788936"/>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4"/>
          <p:cNvSpPr txBox="1"/>
          <p:nvPr/>
        </p:nvSpPr>
        <p:spPr>
          <a:xfrm>
            <a:off x="3138303" y="1800211"/>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Current month Target  - Value</a:t>
            </a:r>
            <a:endParaRPr sz="1000">
              <a:solidFill>
                <a:schemeClr val="dk2"/>
              </a:solidFill>
            </a:endParaRPr>
          </a:p>
        </p:txBody>
      </p:sp>
      <p:sp>
        <p:nvSpPr>
          <p:cNvPr id="90" name="Google Shape;90;p14"/>
          <p:cNvSpPr/>
          <p:nvPr/>
        </p:nvSpPr>
        <p:spPr>
          <a:xfrm>
            <a:off x="4252022" y="177376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4"/>
          <p:cNvSpPr txBox="1"/>
          <p:nvPr/>
        </p:nvSpPr>
        <p:spPr>
          <a:xfrm>
            <a:off x="4252022" y="178504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Achieved</a:t>
            </a:r>
            <a:endParaRPr sz="1000">
              <a:solidFill>
                <a:schemeClr val="dk2"/>
              </a:solidFill>
            </a:endParaRPr>
          </a:p>
        </p:txBody>
      </p:sp>
      <p:sp>
        <p:nvSpPr>
          <p:cNvPr id="92" name="Google Shape;92;p14"/>
          <p:cNvSpPr/>
          <p:nvPr/>
        </p:nvSpPr>
        <p:spPr>
          <a:xfrm>
            <a:off x="5401020" y="176741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4"/>
          <p:cNvSpPr txBox="1"/>
          <p:nvPr/>
        </p:nvSpPr>
        <p:spPr>
          <a:xfrm>
            <a:off x="5401020" y="177869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Pending</a:t>
            </a:r>
            <a:endParaRPr sz="1000">
              <a:solidFill>
                <a:schemeClr val="dk2"/>
              </a:solidFill>
            </a:endParaRPr>
          </a:p>
        </p:txBody>
      </p:sp>
      <p:sp>
        <p:nvSpPr>
          <p:cNvPr id="94" name="Google Shape;94;p14"/>
          <p:cNvSpPr/>
          <p:nvPr/>
        </p:nvSpPr>
        <p:spPr>
          <a:xfrm>
            <a:off x="6488285" y="1754375"/>
            <a:ext cx="19959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4"/>
          <p:cNvSpPr txBox="1"/>
          <p:nvPr/>
        </p:nvSpPr>
        <p:spPr>
          <a:xfrm>
            <a:off x="6488285" y="1765650"/>
            <a:ext cx="19959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Cash collection Target - Value </a:t>
            </a:r>
            <a:r>
              <a:rPr lang="en" sz="800">
                <a:solidFill>
                  <a:schemeClr val="dk2"/>
                </a:solidFill>
              </a:rPr>
              <a:t>(calculation to be taken from the quote with Generated sign off quote signoff value 30%)</a:t>
            </a:r>
            <a:br>
              <a:rPr lang="en" sz="800">
                <a:solidFill>
                  <a:schemeClr val="dk2"/>
                </a:solidFill>
              </a:rPr>
            </a:br>
            <a:endParaRPr sz="8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96" name="Google Shape;96;p14"/>
          <p:cNvSpPr/>
          <p:nvPr/>
        </p:nvSpPr>
        <p:spPr>
          <a:xfrm>
            <a:off x="6521097" y="238476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4"/>
          <p:cNvSpPr txBox="1"/>
          <p:nvPr/>
        </p:nvSpPr>
        <p:spPr>
          <a:xfrm>
            <a:off x="6521095" y="2452117"/>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2"/>
                </a:solidFill>
              </a:rPr>
              <a:t>Achieved</a:t>
            </a:r>
            <a:endParaRPr sz="1000">
              <a:solidFill>
                <a:schemeClr val="dk2"/>
              </a:solidFill>
            </a:endParaRPr>
          </a:p>
        </p:txBody>
      </p:sp>
      <p:sp>
        <p:nvSpPr>
          <p:cNvPr id="98" name="Google Shape;98;p14"/>
          <p:cNvSpPr/>
          <p:nvPr/>
        </p:nvSpPr>
        <p:spPr>
          <a:xfrm>
            <a:off x="7617170" y="238476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4"/>
          <p:cNvSpPr txBox="1"/>
          <p:nvPr/>
        </p:nvSpPr>
        <p:spPr>
          <a:xfrm>
            <a:off x="7617170" y="239604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Pending</a:t>
            </a:r>
            <a:endParaRPr sz="1000">
              <a:solidFill>
                <a:schemeClr val="dk2"/>
              </a:solidFill>
            </a:endParaRPr>
          </a:p>
        </p:txBody>
      </p:sp>
      <p:sp>
        <p:nvSpPr>
          <p:cNvPr id="100" name="Google Shape;100;p14"/>
          <p:cNvSpPr txBox="1"/>
          <p:nvPr/>
        </p:nvSpPr>
        <p:spPr>
          <a:xfrm>
            <a:off x="163686" y="3623367"/>
            <a:ext cx="5556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DF</a:t>
            </a:r>
            <a:endParaRPr b="1" sz="1000">
              <a:solidFill>
                <a:schemeClr val="dk2"/>
              </a:solidFill>
            </a:endParaRPr>
          </a:p>
        </p:txBody>
      </p:sp>
      <p:sp>
        <p:nvSpPr>
          <p:cNvPr id="101" name="Google Shape;101;p14"/>
          <p:cNvSpPr txBox="1"/>
          <p:nvPr/>
        </p:nvSpPr>
        <p:spPr>
          <a:xfrm>
            <a:off x="146064" y="3614547"/>
            <a:ext cx="5556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000">
              <a:solidFill>
                <a:schemeClr val="dk2"/>
              </a:solidFill>
            </a:endParaRPr>
          </a:p>
        </p:txBody>
      </p:sp>
      <p:sp>
        <p:nvSpPr>
          <p:cNvPr id="102" name="Google Shape;102;p14"/>
          <p:cNvSpPr/>
          <p:nvPr/>
        </p:nvSpPr>
        <p:spPr>
          <a:xfrm>
            <a:off x="886875" y="3541536"/>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4"/>
          <p:cNvSpPr txBox="1"/>
          <p:nvPr/>
        </p:nvSpPr>
        <p:spPr>
          <a:xfrm>
            <a:off x="886875" y="3552811"/>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Over all </a:t>
            </a:r>
            <a:endParaRPr sz="1000">
              <a:solidFill>
                <a:schemeClr val="dk2"/>
              </a:solidFill>
            </a:endParaRPr>
          </a:p>
        </p:txBody>
      </p:sp>
      <p:sp>
        <p:nvSpPr>
          <p:cNvPr id="104" name="Google Shape;104;p14"/>
          <p:cNvSpPr txBox="1"/>
          <p:nvPr/>
        </p:nvSpPr>
        <p:spPr>
          <a:xfrm>
            <a:off x="904514" y="3929681"/>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active and onhold project no + project value</a:t>
            </a:r>
            <a:endParaRPr sz="1000">
              <a:solidFill>
                <a:schemeClr val="dk2"/>
              </a:solidFill>
            </a:endParaRPr>
          </a:p>
        </p:txBody>
      </p:sp>
      <p:sp>
        <p:nvSpPr>
          <p:cNvPr id="105" name="Google Shape;105;p14"/>
          <p:cNvSpPr/>
          <p:nvPr/>
        </p:nvSpPr>
        <p:spPr>
          <a:xfrm>
            <a:off x="2044692" y="3544006"/>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4"/>
          <p:cNvSpPr txBox="1"/>
          <p:nvPr/>
        </p:nvSpPr>
        <p:spPr>
          <a:xfrm>
            <a:off x="2044692" y="3555281"/>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High Intent</a:t>
            </a:r>
            <a:endParaRPr sz="1000">
              <a:solidFill>
                <a:schemeClr val="dk2"/>
              </a:solidFill>
            </a:endParaRPr>
          </a:p>
        </p:txBody>
      </p:sp>
      <p:sp>
        <p:nvSpPr>
          <p:cNvPr id="107" name="Google Shape;107;p14"/>
          <p:cNvSpPr txBox="1"/>
          <p:nvPr/>
        </p:nvSpPr>
        <p:spPr>
          <a:xfrm>
            <a:off x="2035872" y="4037983"/>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Total No of active project (</a:t>
            </a:r>
            <a:r>
              <a:rPr lang="en" sz="800">
                <a:solidFill>
                  <a:schemeClr val="dk2"/>
                </a:solidFill>
              </a:rPr>
              <a:t>with DF timeline falls on this month cycle) </a:t>
            </a:r>
            <a:r>
              <a:rPr lang="en" sz="1000">
                <a:solidFill>
                  <a:schemeClr val="dk2"/>
                </a:solidFill>
              </a:rPr>
              <a:t>+value</a:t>
            </a:r>
            <a:endParaRPr sz="1000">
              <a:solidFill>
                <a:schemeClr val="dk2"/>
              </a:solidFill>
            </a:endParaRPr>
          </a:p>
        </p:txBody>
      </p:sp>
      <p:sp>
        <p:nvSpPr>
          <p:cNvPr id="108" name="Google Shape;108;p14"/>
          <p:cNvSpPr/>
          <p:nvPr/>
        </p:nvSpPr>
        <p:spPr>
          <a:xfrm>
            <a:off x="3167231" y="352001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4"/>
          <p:cNvSpPr txBox="1"/>
          <p:nvPr/>
        </p:nvSpPr>
        <p:spPr>
          <a:xfrm>
            <a:off x="3167231" y="353129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DF done -Num of project</a:t>
            </a:r>
            <a:endParaRPr sz="1000">
              <a:solidFill>
                <a:schemeClr val="dk2"/>
              </a:solidFill>
            </a:endParaRPr>
          </a:p>
        </p:txBody>
      </p:sp>
      <p:sp>
        <p:nvSpPr>
          <p:cNvPr id="110" name="Google Shape;110;p14"/>
          <p:cNvSpPr/>
          <p:nvPr/>
        </p:nvSpPr>
        <p:spPr>
          <a:xfrm>
            <a:off x="4280950" y="350484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4"/>
          <p:cNvSpPr txBox="1"/>
          <p:nvPr/>
        </p:nvSpPr>
        <p:spPr>
          <a:xfrm>
            <a:off x="4280950" y="351612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DF pending - Num of project</a:t>
            </a:r>
            <a:endParaRPr sz="1000">
              <a:solidFill>
                <a:schemeClr val="dk2"/>
              </a:solidFill>
            </a:endParaRPr>
          </a:p>
        </p:txBody>
      </p:sp>
      <p:sp>
        <p:nvSpPr>
          <p:cNvPr id="112" name="Google Shape;112;p14"/>
          <p:cNvSpPr/>
          <p:nvPr/>
        </p:nvSpPr>
        <p:spPr>
          <a:xfrm>
            <a:off x="6517213" y="3485456"/>
            <a:ext cx="19959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4"/>
          <p:cNvSpPr txBox="1"/>
          <p:nvPr/>
        </p:nvSpPr>
        <p:spPr>
          <a:xfrm>
            <a:off x="6517213" y="3496731"/>
            <a:ext cx="19959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Cash collection - Value </a:t>
            </a:r>
            <a:r>
              <a:rPr lang="en" sz="800">
                <a:solidFill>
                  <a:schemeClr val="dk2"/>
                </a:solidFill>
              </a:rPr>
              <a:t>(calculation to be taken from the quote with Generated DF quote DF value 30%)</a:t>
            </a:r>
            <a:br>
              <a:rPr lang="en" sz="800">
                <a:solidFill>
                  <a:schemeClr val="dk2"/>
                </a:solidFill>
              </a:rPr>
            </a:br>
            <a:endParaRPr sz="8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14" name="Google Shape;114;p14"/>
          <p:cNvSpPr/>
          <p:nvPr/>
        </p:nvSpPr>
        <p:spPr>
          <a:xfrm>
            <a:off x="6550025" y="411584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4"/>
          <p:cNvSpPr txBox="1"/>
          <p:nvPr/>
        </p:nvSpPr>
        <p:spPr>
          <a:xfrm>
            <a:off x="6550022" y="4183197"/>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Achieved</a:t>
            </a:r>
            <a:endParaRPr sz="1000">
              <a:solidFill>
                <a:schemeClr val="dk2"/>
              </a:solidFill>
            </a:endParaRPr>
          </a:p>
        </p:txBody>
      </p:sp>
      <p:sp>
        <p:nvSpPr>
          <p:cNvPr id="116" name="Google Shape;116;p14"/>
          <p:cNvSpPr/>
          <p:nvPr/>
        </p:nvSpPr>
        <p:spPr>
          <a:xfrm>
            <a:off x="7646097" y="4115847"/>
            <a:ext cx="1040700" cy="45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4"/>
          <p:cNvSpPr txBox="1"/>
          <p:nvPr/>
        </p:nvSpPr>
        <p:spPr>
          <a:xfrm>
            <a:off x="7646097" y="4127122"/>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Pending</a:t>
            </a:r>
            <a:endParaRPr sz="1000">
              <a:solidFill>
                <a:schemeClr val="dk2"/>
              </a:solidFill>
            </a:endParaRPr>
          </a:p>
        </p:txBody>
      </p:sp>
      <p:sp>
        <p:nvSpPr>
          <p:cNvPr id="118" name="Google Shape;118;p14"/>
          <p:cNvSpPr/>
          <p:nvPr/>
        </p:nvSpPr>
        <p:spPr>
          <a:xfrm>
            <a:off x="7943500" y="119502"/>
            <a:ext cx="1040700" cy="324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4"/>
          <p:cNvSpPr txBox="1"/>
          <p:nvPr/>
        </p:nvSpPr>
        <p:spPr>
          <a:xfrm>
            <a:off x="7943489" y="158008"/>
            <a:ext cx="1040700" cy="32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Calendar</a:t>
            </a:r>
            <a:r>
              <a:rPr lang="en" sz="1000">
                <a:solidFill>
                  <a:schemeClr val="dk2"/>
                </a:solidFill>
              </a:rPr>
              <a:t> filter</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p:nvPr/>
        </p:nvSpPr>
        <p:spPr>
          <a:xfrm>
            <a:off x="272525" y="2393275"/>
            <a:ext cx="4287900" cy="2351700"/>
          </a:xfrm>
          <a:prstGeom prst="rect">
            <a:avLst/>
          </a:prstGeom>
          <a:solidFill>
            <a:schemeClr val="lt2"/>
          </a:solidFill>
          <a:ln cap="flat" cmpd="sng" w="10425">
            <a:solidFill>
              <a:schemeClr val="dk2"/>
            </a:solidFill>
            <a:prstDash val="solid"/>
            <a:round/>
            <a:headEnd len="sm" w="sm" type="none"/>
            <a:tailEnd len="sm" w="sm" type="none"/>
          </a:ln>
        </p:spPr>
        <p:txBody>
          <a:bodyPr anchorCtr="0" anchor="ctr" bIns="100100" lIns="100100" spcFirstLastPara="1" rIns="100100" wrap="square" tIns="100100">
            <a:noAutofit/>
          </a:bodyPr>
          <a:lstStyle/>
          <a:p>
            <a:pPr indent="0" lvl="0" marL="0" rtl="0" algn="ctr">
              <a:spcBef>
                <a:spcPts val="0"/>
              </a:spcBef>
              <a:spcAft>
                <a:spcPts val="0"/>
              </a:spcAft>
              <a:buNone/>
            </a:pPr>
            <a:r>
              <a:t/>
            </a:r>
            <a:endParaRPr b="1" sz="1533"/>
          </a:p>
        </p:txBody>
      </p:sp>
      <p:sp>
        <p:nvSpPr>
          <p:cNvPr id="125" name="Google Shape;125;p15"/>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Dashboard</a:t>
            </a:r>
            <a:endParaRPr b="1" sz="1200">
              <a:solidFill>
                <a:schemeClr val="dk2"/>
              </a:solidFill>
            </a:endParaRPr>
          </a:p>
        </p:txBody>
      </p:sp>
      <p:sp>
        <p:nvSpPr>
          <p:cNvPr id="126" name="Google Shape;126;p15"/>
          <p:cNvSpPr/>
          <p:nvPr/>
        </p:nvSpPr>
        <p:spPr>
          <a:xfrm>
            <a:off x="267150" y="594250"/>
            <a:ext cx="4287900" cy="1725300"/>
          </a:xfrm>
          <a:prstGeom prst="rect">
            <a:avLst/>
          </a:prstGeom>
          <a:solidFill>
            <a:schemeClr val="lt2"/>
          </a:solidFill>
          <a:ln cap="flat" cmpd="sng" w="10425">
            <a:solidFill>
              <a:schemeClr val="dk2"/>
            </a:solidFill>
            <a:prstDash val="solid"/>
            <a:round/>
            <a:headEnd len="sm" w="sm" type="none"/>
            <a:tailEnd len="sm" w="sm" type="none"/>
          </a:ln>
        </p:spPr>
        <p:txBody>
          <a:bodyPr anchorCtr="0" anchor="ctr" bIns="100100" lIns="100100" spcFirstLastPara="1" rIns="100100" wrap="square" tIns="100100">
            <a:noAutofit/>
          </a:bodyPr>
          <a:lstStyle/>
          <a:p>
            <a:pPr indent="0" lvl="0" marL="0" rtl="0" algn="ctr">
              <a:spcBef>
                <a:spcPts val="0"/>
              </a:spcBef>
              <a:spcAft>
                <a:spcPts val="0"/>
              </a:spcAft>
              <a:buNone/>
            </a:pPr>
            <a:r>
              <a:t/>
            </a:r>
            <a:endParaRPr b="1" sz="1533"/>
          </a:p>
        </p:txBody>
      </p:sp>
      <p:sp>
        <p:nvSpPr>
          <p:cNvPr id="127" name="Google Shape;127;p15"/>
          <p:cNvSpPr/>
          <p:nvPr/>
        </p:nvSpPr>
        <p:spPr>
          <a:xfrm>
            <a:off x="4663875" y="594250"/>
            <a:ext cx="4287900" cy="1725300"/>
          </a:xfrm>
          <a:prstGeom prst="rect">
            <a:avLst/>
          </a:prstGeom>
          <a:solidFill>
            <a:schemeClr val="lt2"/>
          </a:solidFill>
          <a:ln cap="flat" cmpd="sng" w="10425">
            <a:solidFill>
              <a:schemeClr val="dk2"/>
            </a:solidFill>
            <a:prstDash val="solid"/>
            <a:round/>
            <a:headEnd len="sm" w="sm" type="none"/>
            <a:tailEnd len="sm" w="sm" type="none"/>
          </a:ln>
        </p:spPr>
        <p:txBody>
          <a:bodyPr anchorCtr="0" anchor="ctr" bIns="100100" lIns="100100" spcFirstLastPara="1" rIns="100100" wrap="square" tIns="100100">
            <a:noAutofit/>
          </a:bodyPr>
          <a:lstStyle/>
          <a:p>
            <a:pPr indent="0" lvl="0" marL="0" rtl="0" algn="ctr">
              <a:spcBef>
                <a:spcPts val="0"/>
              </a:spcBef>
              <a:spcAft>
                <a:spcPts val="0"/>
              </a:spcAft>
              <a:buNone/>
            </a:pPr>
            <a:r>
              <a:t/>
            </a:r>
            <a:endParaRPr b="1" sz="1533"/>
          </a:p>
        </p:txBody>
      </p:sp>
      <p:sp>
        <p:nvSpPr>
          <p:cNvPr id="128" name="Google Shape;128;p15"/>
          <p:cNvSpPr txBox="1"/>
          <p:nvPr/>
        </p:nvSpPr>
        <p:spPr>
          <a:xfrm>
            <a:off x="1334250" y="594250"/>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Effort metrics - Sales </a:t>
            </a:r>
            <a:endParaRPr b="1" sz="1000">
              <a:solidFill>
                <a:schemeClr val="dk2"/>
              </a:solidFill>
            </a:endParaRPr>
          </a:p>
        </p:txBody>
      </p:sp>
      <p:sp>
        <p:nvSpPr>
          <p:cNvPr id="129" name="Google Shape;129;p15"/>
          <p:cNvSpPr txBox="1"/>
          <p:nvPr/>
        </p:nvSpPr>
        <p:spPr>
          <a:xfrm>
            <a:off x="485075" y="987775"/>
            <a:ext cx="3862800" cy="31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To be shown in graph </a:t>
            </a:r>
            <a:endParaRPr sz="800">
              <a:solidFill>
                <a:schemeClr val="dk2"/>
              </a:solidFill>
            </a:endParaRPr>
          </a:p>
          <a:p>
            <a:pPr indent="0" lvl="0" marL="0" rtl="0" algn="l">
              <a:spcBef>
                <a:spcPts val="0"/>
              </a:spcBef>
              <a:spcAft>
                <a:spcPts val="0"/>
              </a:spcAft>
              <a:buNone/>
            </a:pPr>
            <a:r>
              <a:rPr b="1" lang="en" sz="1000">
                <a:solidFill>
                  <a:schemeClr val="dk2"/>
                </a:solidFill>
              </a:rPr>
              <a:t>Leads </a:t>
            </a:r>
            <a:r>
              <a:rPr lang="en" sz="800">
                <a:solidFill>
                  <a:schemeClr val="dk2"/>
                </a:solidFill>
              </a:rPr>
              <a:t>(When </a:t>
            </a:r>
            <a:r>
              <a:rPr lang="en" sz="800">
                <a:solidFill>
                  <a:schemeClr val="dk2"/>
                </a:solidFill>
              </a:rPr>
              <a:t>you</a:t>
            </a:r>
            <a:r>
              <a:rPr lang="en" sz="800">
                <a:solidFill>
                  <a:schemeClr val="dk2"/>
                </a:solidFill>
              </a:rPr>
              <a:t> touch each bar in the graph it should show the count +Value)</a:t>
            </a:r>
            <a:endParaRPr sz="800">
              <a:solidFill>
                <a:schemeClr val="dk2"/>
              </a:solidFill>
            </a:endParaRPr>
          </a:p>
          <a:p>
            <a:pPr indent="0" lvl="0" marL="0" rtl="0" algn="l">
              <a:spcBef>
                <a:spcPts val="0"/>
              </a:spcBef>
              <a:spcAft>
                <a:spcPts val="0"/>
              </a:spcAft>
              <a:buNone/>
            </a:pPr>
            <a:r>
              <a:rPr lang="en" sz="1000">
                <a:solidFill>
                  <a:schemeClr val="dk2"/>
                </a:solidFill>
              </a:rPr>
              <a:t>- Total Leads </a:t>
            </a:r>
            <a:endParaRPr sz="1000">
              <a:solidFill>
                <a:schemeClr val="dk2"/>
              </a:solidFill>
            </a:endParaRPr>
          </a:p>
          <a:p>
            <a:pPr indent="0" lvl="0" marL="0" rtl="0" algn="l">
              <a:spcBef>
                <a:spcPts val="0"/>
              </a:spcBef>
              <a:spcAft>
                <a:spcPts val="0"/>
              </a:spcAft>
              <a:buNone/>
            </a:pPr>
            <a:r>
              <a:rPr lang="en" sz="1000">
                <a:solidFill>
                  <a:schemeClr val="dk2"/>
                </a:solidFill>
              </a:rPr>
              <a:t>- MQL</a:t>
            </a:r>
            <a:endParaRPr sz="1000">
              <a:solidFill>
                <a:schemeClr val="dk2"/>
              </a:solidFill>
            </a:endParaRPr>
          </a:p>
          <a:p>
            <a:pPr indent="0" lvl="0" marL="0" rtl="0" algn="l">
              <a:spcBef>
                <a:spcPts val="0"/>
              </a:spcBef>
              <a:spcAft>
                <a:spcPts val="0"/>
              </a:spcAft>
              <a:buNone/>
            </a:pPr>
            <a:r>
              <a:rPr lang="en" sz="1000">
                <a:solidFill>
                  <a:schemeClr val="dk2"/>
                </a:solidFill>
              </a:rPr>
              <a:t>- DQL</a:t>
            </a:r>
            <a:endParaRPr sz="1000">
              <a:solidFill>
                <a:schemeClr val="dk2"/>
              </a:solidFill>
            </a:endParaRPr>
          </a:p>
          <a:p>
            <a:pPr indent="0" lvl="0" marL="0" rtl="0" algn="l">
              <a:spcBef>
                <a:spcPts val="0"/>
              </a:spcBef>
              <a:spcAft>
                <a:spcPts val="0"/>
              </a:spcAft>
              <a:buNone/>
            </a:pPr>
            <a:r>
              <a:rPr lang="en" sz="1000">
                <a:solidFill>
                  <a:schemeClr val="dk2"/>
                </a:solidFill>
              </a:rPr>
              <a:t>- PR</a:t>
            </a:r>
            <a:endParaRPr sz="1000">
              <a:solidFill>
                <a:schemeClr val="dk2"/>
              </a:solidFill>
            </a:endParaRPr>
          </a:p>
          <a:p>
            <a:pPr indent="0" lvl="0" marL="0" rtl="0" algn="l">
              <a:spcBef>
                <a:spcPts val="0"/>
              </a:spcBef>
              <a:spcAft>
                <a:spcPts val="0"/>
              </a:spcAft>
              <a:buNone/>
            </a:pPr>
            <a:r>
              <a:rPr lang="en" sz="1000">
                <a:solidFill>
                  <a:schemeClr val="dk2"/>
                </a:solidFill>
              </a:rPr>
              <a:t>- pp</a:t>
            </a:r>
            <a:endParaRPr sz="1000">
              <a:solidFill>
                <a:schemeClr val="dk2"/>
              </a:solidFill>
            </a:endParaRPr>
          </a:p>
          <a:p>
            <a:pPr indent="0" lvl="0" marL="0" rtl="0" algn="l">
              <a:spcBef>
                <a:spcPts val="0"/>
              </a:spcBef>
              <a:spcAft>
                <a:spcPts val="0"/>
              </a:spcAft>
              <a:buNone/>
            </a:pPr>
            <a:r>
              <a:rPr lang="en" sz="1000">
                <a:solidFill>
                  <a:schemeClr val="dk2"/>
                </a:solidFill>
              </a:rPr>
              <a:t>- OB</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t/>
            </a:r>
            <a:endParaRPr b="1" sz="1000">
              <a:solidFill>
                <a:schemeClr val="dk2"/>
              </a:solidFill>
            </a:endParaRPr>
          </a:p>
          <a:p>
            <a:pPr indent="0" lvl="0" marL="0" rtl="0" algn="l">
              <a:spcBef>
                <a:spcPts val="0"/>
              </a:spcBef>
              <a:spcAft>
                <a:spcPts val="0"/>
              </a:spcAft>
              <a:buNone/>
            </a:pPr>
            <a:r>
              <a:t/>
            </a:r>
            <a:endParaRPr b="1" sz="1000">
              <a:solidFill>
                <a:schemeClr val="dk2"/>
              </a:solidFill>
            </a:endParaRPr>
          </a:p>
          <a:p>
            <a:pPr indent="0" lvl="0" marL="0" rtl="0" algn="l">
              <a:spcBef>
                <a:spcPts val="0"/>
              </a:spcBef>
              <a:spcAft>
                <a:spcPts val="0"/>
              </a:spcAft>
              <a:buClr>
                <a:schemeClr val="dk1"/>
              </a:buClr>
              <a:buSzPts val="1100"/>
              <a:buFont typeface="Arial"/>
              <a:buNone/>
            </a:pPr>
            <a:r>
              <a:rPr b="1" lang="en" sz="1000">
                <a:solidFill>
                  <a:schemeClr val="dk2"/>
                </a:solidFill>
              </a:rPr>
              <a:t>Project </a:t>
            </a:r>
            <a:r>
              <a:rPr lang="en" sz="800">
                <a:solidFill>
                  <a:schemeClr val="dk2"/>
                </a:solidFill>
              </a:rPr>
              <a:t>(When you touch each bar in the graph it should show the count +Value)</a:t>
            </a:r>
            <a:endParaRPr sz="8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 Total project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 OB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 Site documentation</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 LF</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 DD</a:t>
            </a:r>
            <a:endParaRPr sz="1000">
              <a:solidFill>
                <a:schemeClr val="dk2"/>
              </a:solidFill>
            </a:endParaRPr>
          </a:p>
          <a:p>
            <a:pPr indent="0" lvl="0" marL="0" rtl="0" algn="l">
              <a:spcBef>
                <a:spcPts val="0"/>
              </a:spcBef>
              <a:spcAft>
                <a:spcPts val="0"/>
              </a:spcAft>
              <a:buNone/>
            </a:pPr>
            <a:r>
              <a:rPr lang="en" sz="1000">
                <a:solidFill>
                  <a:schemeClr val="dk2"/>
                </a:solidFill>
              </a:rPr>
              <a:t>- DF</a:t>
            </a:r>
            <a:endParaRPr sz="1000">
              <a:solidFill>
                <a:schemeClr val="dk2"/>
              </a:solidFill>
            </a:endParaRPr>
          </a:p>
          <a:p>
            <a:pPr indent="0" lvl="0" marL="0" rtl="0" algn="l">
              <a:spcBef>
                <a:spcPts val="0"/>
              </a:spcBef>
              <a:spcAft>
                <a:spcPts val="0"/>
              </a:spcAft>
              <a:buNone/>
            </a:pPr>
            <a:r>
              <a:rPr lang="en" sz="1000">
                <a:solidFill>
                  <a:schemeClr val="dk2"/>
                </a:solidFill>
              </a:rPr>
              <a:t>-Masking</a:t>
            </a:r>
            <a:endParaRPr sz="1000">
              <a:solidFill>
                <a:schemeClr val="dk2"/>
              </a:solidFill>
            </a:endParaRPr>
          </a:p>
          <a:p>
            <a:pPr indent="0" lvl="0" marL="0" rtl="0" algn="l">
              <a:spcBef>
                <a:spcPts val="0"/>
              </a:spcBef>
              <a:spcAft>
                <a:spcPts val="0"/>
              </a:spcAft>
              <a:buNone/>
            </a:pPr>
            <a:r>
              <a:rPr lang="en" sz="1000">
                <a:solidFill>
                  <a:schemeClr val="dk2"/>
                </a:solidFill>
              </a:rPr>
              <a:t>- SO</a:t>
            </a:r>
            <a:endParaRPr sz="1000">
              <a:solidFill>
                <a:schemeClr val="dk2"/>
              </a:solidFill>
            </a:endParaRPr>
          </a:p>
          <a:p>
            <a:pPr indent="0" lvl="0" marL="0" rtl="0" algn="l">
              <a:spcBef>
                <a:spcPts val="0"/>
              </a:spcBef>
              <a:spcAft>
                <a:spcPts val="0"/>
              </a:spcAft>
              <a:buNone/>
            </a:pPr>
            <a:r>
              <a:rPr lang="en" sz="1000">
                <a:solidFill>
                  <a:schemeClr val="dk2"/>
                </a:solidFill>
              </a:rPr>
              <a:t>- Execution</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-Completed </a:t>
            </a:r>
            <a:endParaRPr sz="1000">
              <a:solidFill>
                <a:schemeClr val="dk2"/>
              </a:solidFill>
            </a:endParaRPr>
          </a:p>
        </p:txBody>
      </p:sp>
      <p:sp>
        <p:nvSpPr>
          <p:cNvPr id="130" name="Google Shape;130;p15"/>
          <p:cNvSpPr txBox="1"/>
          <p:nvPr/>
        </p:nvSpPr>
        <p:spPr>
          <a:xfrm>
            <a:off x="1213250" y="246932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Effort metrics - Design </a:t>
            </a:r>
            <a:endParaRPr b="1" sz="1000">
              <a:solidFill>
                <a:schemeClr val="dk2"/>
              </a:solidFill>
            </a:endParaRPr>
          </a:p>
        </p:txBody>
      </p:sp>
      <p:sp>
        <p:nvSpPr>
          <p:cNvPr id="131" name="Google Shape;131;p15"/>
          <p:cNvSpPr txBox="1"/>
          <p:nvPr/>
        </p:nvSpPr>
        <p:spPr>
          <a:xfrm>
            <a:off x="5933025" y="594250"/>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SLA - Breach </a:t>
            </a:r>
            <a:r>
              <a:rPr b="1" lang="en" sz="1000">
                <a:solidFill>
                  <a:schemeClr val="dk2"/>
                </a:solidFill>
              </a:rPr>
              <a:t> </a:t>
            </a:r>
            <a:endParaRPr b="1" sz="1000">
              <a:solidFill>
                <a:schemeClr val="dk2"/>
              </a:solidFill>
            </a:endParaRPr>
          </a:p>
        </p:txBody>
      </p:sp>
      <p:sp>
        <p:nvSpPr>
          <p:cNvPr id="132" name="Google Shape;132;p15"/>
          <p:cNvSpPr txBox="1"/>
          <p:nvPr/>
        </p:nvSpPr>
        <p:spPr>
          <a:xfrm>
            <a:off x="4824225" y="908400"/>
            <a:ext cx="3977700" cy="12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PID - Cx name - Stage - how many days breached </a:t>
            </a:r>
            <a:endParaRPr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lang="en" sz="800">
                <a:solidFill>
                  <a:schemeClr val="dk2"/>
                </a:solidFill>
              </a:rPr>
              <a:t>(For all the stages given in sales and design - </a:t>
            </a:r>
            <a:r>
              <a:rPr lang="en" sz="800">
                <a:solidFill>
                  <a:schemeClr val="dk2"/>
                </a:solidFill>
              </a:rPr>
              <a:t>Admin portal has to be notified with notification  )</a:t>
            </a:r>
            <a:endParaRPr sz="800">
              <a:solidFill>
                <a:schemeClr val="dk2"/>
              </a:solidFill>
            </a:endParaRPr>
          </a:p>
        </p:txBody>
      </p:sp>
      <p:sp>
        <p:nvSpPr>
          <p:cNvPr id="133" name="Google Shape;133;p15"/>
          <p:cNvSpPr/>
          <p:nvPr/>
        </p:nvSpPr>
        <p:spPr>
          <a:xfrm>
            <a:off x="4707975" y="2469325"/>
            <a:ext cx="4287900" cy="2275500"/>
          </a:xfrm>
          <a:prstGeom prst="rect">
            <a:avLst/>
          </a:prstGeom>
          <a:solidFill>
            <a:schemeClr val="lt2"/>
          </a:solidFill>
          <a:ln cap="flat" cmpd="sng" w="10425">
            <a:solidFill>
              <a:schemeClr val="dk2"/>
            </a:solidFill>
            <a:prstDash val="solid"/>
            <a:round/>
            <a:headEnd len="sm" w="sm" type="none"/>
            <a:tailEnd len="sm" w="sm" type="none"/>
          </a:ln>
        </p:spPr>
        <p:txBody>
          <a:bodyPr anchorCtr="0" anchor="ctr" bIns="100100" lIns="100100" spcFirstLastPara="1" rIns="100100" wrap="square" tIns="100100">
            <a:noAutofit/>
          </a:bodyPr>
          <a:lstStyle/>
          <a:p>
            <a:pPr indent="0" lvl="0" marL="0" rtl="0" algn="ctr">
              <a:spcBef>
                <a:spcPts val="0"/>
              </a:spcBef>
              <a:spcAft>
                <a:spcPts val="0"/>
              </a:spcAft>
              <a:buNone/>
            </a:pPr>
            <a:r>
              <a:t/>
            </a:r>
            <a:endParaRPr b="1" sz="1533"/>
          </a:p>
        </p:txBody>
      </p:sp>
      <p:sp>
        <p:nvSpPr>
          <p:cNvPr id="134" name="Google Shape;134;p15"/>
          <p:cNvSpPr txBox="1"/>
          <p:nvPr/>
        </p:nvSpPr>
        <p:spPr>
          <a:xfrm>
            <a:off x="5977125" y="2469325"/>
            <a:ext cx="20046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NPS  - VALUE </a:t>
            </a:r>
            <a:r>
              <a:rPr lang="en" sz="800">
                <a:solidFill>
                  <a:schemeClr val="dk2"/>
                </a:solidFill>
              </a:rPr>
              <a:t>( Overall average )</a:t>
            </a:r>
            <a:r>
              <a:rPr lang="en" sz="800">
                <a:solidFill>
                  <a:schemeClr val="dk2"/>
                </a:solidFill>
              </a:rPr>
              <a:t>  </a:t>
            </a:r>
            <a:endParaRPr sz="800">
              <a:solidFill>
                <a:schemeClr val="dk2"/>
              </a:solidFill>
            </a:endParaRPr>
          </a:p>
        </p:txBody>
      </p:sp>
      <p:sp>
        <p:nvSpPr>
          <p:cNvPr id="135" name="Google Shape;135;p15"/>
          <p:cNvSpPr txBox="1"/>
          <p:nvPr/>
        </p:nvSpPr>
        <p:spPr>
          <a:xfrm>
            <a:off x="4868325" y="2883685"/>
            <a:ext cx="3977700" cy="16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Sales - Value </a:t>
            </a:r>
            <a:r>
              <a:rPr lang="en" sz="800">
                <a:solidFill>
                  <a:schemeClr val="dk2"/>
                </a:solidFill>
              </a:rPr>
              <a:t>(Average)</a:t>
            </a:r>
            <a:endParaRPr sz="800">
              <a:solidFill>
                <a:schemeClr val="dk2"/>
              </a:solidFill>
            </a:endParaRPr>
          </a:p>
          <a:p>
            <a:pPr indent="0" lvl="0" marL="0" rtl="0" algn="l">
              <a:spcBef>
                <a:spcPts val="0"/>
              </a:spcBef>
              <a:spcAft>
                <a:spcPts val="0"/>
              </a:spcAft>
              <a:buNone/>
            </a:pPr>
            <a:r>
              <a:rPr lang="en" sz="1000">
                <a:solidFill>
                  <a:schemeClr val="dk2"/>
                </a:solidFill>
              </a:rPr>
              <a:t>DF - Value </a:t>
            </a:r>
            <a:r>
              <a:rPr lang="en" sz="800">
                <a:solidFill>
                  <a:schemeClr val="dk2"/>
                </a:solidFill>
              </a:rPr>
              <a:t>(Average)</a:t>
            </a:r>
            <a:endParaRPr sz="1000">
              <a:solidFill>
                <a:schemeClr val="dk2"/>
              </a:solidFill>
            </a:endParaRPr>
          </a:p>
          <a:p>
            <a:pPr indent="0" lvl="0" marL="0" rtl="0" algn="l">
              <a:spcBef>
                <a:spcPts val="0"/>
              </a:spcBef>
              <a:spcAft>
                <a:spcPts val="0"/>
              </a:spcAft>
              <a:buNone/>
            </a:pPr>
            <a:r>
              <a:rPr lang="en" sz="1000">
                <a:solidFill>
                  <a:schemeClr val="dk2"/>
                </a:solidFill>
              </a:rPr>
              <a:t>SO - Value </a:t>
            </a:r>
            <a:r>
              <a:rPr lang="en" sz="800">
                <a:solidFill>
                  <a:schemeClr val="dk2"/>
                </a:solidFill>
              </a:rPr>
              <a:t>(Average)</a:t>
            </a:r>
            <a:endParaRPr sz="1000">
              <a:solidFill>
                <a:schemeClr val="dk2"/>
              </a:solidFill>
            </a:endParaRPr>
          </a:p>
        </p:txBody>
      </p:sp>
      <p:sp>
        <p:nvSpPr>
          <p:cNvPr id="136" name="Google Shape;136;p15"/>
          <p:cNvSpPr txBox="1"/>
          <p:nvPr/>
        </p:nvSpPr>
        <p:spPr>
          <a:xfrm>
            <a:off x="485075" y="4639025"/>
            <a:ext cx="28929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Effort metrics should show the expected out come like less transparent graph and as they finish the task it should fill if over </a:t>
            </a:r>
            <a:r>
              <a:rPr lang="en" sz="800">
                <a:solidFill>
                  <a:schemeClr val="dk2"/>
                </a:solidFill>
              </a:rPr>
              <a:t>achieved</a:t>
            </a:r>
            <a:r>
              <a:rPr lang="en" sz="800">
                <a:solidFill>
                  <a:schemeClr val="dk2"/>
                </a:solidFill>
              </a:rPr>
              <a:t> it should be highlighted as well</a:t>
            </a:r>
            <a:endParaRPr sz="800">
              <a:solidFill>
                <a:schemeClr val="dk2"/>
              </a:solidFill>
            </a:endParaRPr>
          </a:p>
        </p:txBody>
      </p:sp>
      <p:sp>
        <p:nvSpPr>
          <p:cNvPr id="137" name="Google Shape;137;p15"/>
          <p:cNvSpPr/>
          <p:nvPr/>
        </p:nvSpPr>
        <p:spPr>
          <a:xfrm>
            <a:off x="3022475" y="3685300"/>
            <a:ext cx="477300" cy="724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B6D7A8"/>
              </a:highlight>
            </a:endParaRPr>
          </a:p>
        </p:txBody>
      </p:sp>
      <p:sp>
        <p:nvSpPr>
          <p:cNvPr id="138" name="Google Shape;138;p15"/>
          <p:cNvSpPr/>
          <p:nvPr/>
        </p:nvSpPr>
        <p:spPr>
          <a:xfrm>
            <a:off x="3022475" y="3253925"/>
            <a:ext cx="477300" cy="431400"/>
          </a:xfrm>
          <a:prstGeom prst="rect">
            <a:avLst/>
          </a:prstGeom>
          <a:solidFill>
            <a:srgbClr val="D9EAD3"/>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5"/>
          <p:cNvSpPr/>
          <p:nvPr/>
        </p:nvSpPr>
        <p:spPr>
          <a:xfrm>
            <a:off x="3517375" y="4082975"/>
            <a:ext cx="415500" cy="10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5"/>
          <p:cNvSpPr txBox="1"/>
          <p:nvPr/>
        </p:nvSpPr>
        <p:spPr>
          <a:xfrm>
            <a:off x="3886050" y="3997025"/>
            <a:ext cx="685800" cy="2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Achieved</a:t>
            </a:r>
            <a:endParaRPr sz="800">
              <a:solidFill>
                <a:schemeClr val="dk2"/>
              </a:solidFill>
            </a:endParaRPr>
          </a:p>
        </p:txBody>
      </p:sp>
      <p:sp>
        <p:nvSpPr>
          <p:cNvPr id="141" name="Google Shape;141;p15"/>
          <p:cNvSpPr/>
          <p:nvPr/>
        </p:nvSpPr>
        <p:spPr>
          <a:xfrm>
            <a:off x="3499775" y="3240688"/>
            <a:ext cx="415500" cy="10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5"/>
          <p:cNvSpPr txBox="1"/>
          <p:nvPr/>
        </p:nvSpPr>
        <p:spPr>
          <a:xfrm>
            <a:off x="3868450" y="3154738"/>
            <a:ext cx="685800" cy="2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Target</a:t>
            </a:r>
            <a:endParaRPr sz="800">
              <a:solidFill>
                <a:schemeClr val="dk2"/>
              </a:solidFill>
            </a:endParaRPr>
          </a:p>
        </p:txBody>
      </p:sp>
      <p:sp>
        <p:nvSpPr>
          <p:cNvPr id="143" name="Google Shape;143;p15"/>
          <p:cNvSpPr/>
          <p:nvPr/>
        </p:nvSpPr>
        <p:spPr>
          <a:xfrm>
            <a:off x="2459025" y="3084325"/>
            <a:ext cx="477300" cy="1325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B6D7A8"/>
              </a:highlight>
            </a:endParaRPr>
          </a:p>
        </p:txBody>
      </p:sp>
      <p:sp>
        <p:nvSpPr>
          <p:cNvPr id="144" name="Google Shape;144;p15"/>
          <p:cNvSpPr/>
          <p:nvPr/>
        </p:nvSpPr>
        <p:spPr>
          <a:xfrm>
            <a:off x="2459025" y="3253925"/>
            <a:ext cx="477300" cy="42600"/>
          </a:xfrm>
          <a:prstGeom prst="rect">
            <a:avLst/>
          </a:prstGeom>
          <a:solidFill>
            <a:srgbClr val="D9EAD3"/>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5"/>
          <p:cNvSpPr/>
          <p:nvPr/>
        </p:nvSpPr>
        <p:spPr>
          <a:xfrm>
            <a:off x="2936325" y="3059976"/>
            <a:ext cx="415500" cy="10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5"/>
          <p:cNvSpPr txBox="1"/>
          <p:nvPr/>
        </p:nvSpPr>
        <p:spPr>
          <a:xfrm>
            <a:off x="3305000" y="2974025"/>
            <a:ext cx="1056300" cy="2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Over </a:t>
            </a:r>
            <a:r>
              <a:rPr lang="en" sz="800">
                <a:solidFill>
                  <a:schemeClr val="dk2"/>
                </a:solidFill>
              </a:rPr>
              <a:t>Achieved</a:t>
            </a:r>
            <a:endParaRPr sz="800">
              <a:solidFill>
                <a:schemeClr val="dk2"/>
              </a:solidFill>
            </a:endParaRPr>
          </a:p>
        </p:txBody>
      </p:sp>
      <p:sp>
        <p:nvSpPr>
          <p:cNvPr id="147" name="Google Shape;147;p15"/>
          <p:cNvSpPr/>
          <p:nvPr/>
        </p:nvSpPr>
        <p:spPr>
          <a:xfrm>
            <a:off x="2456825" y="3084325"/>
            <a:ext cx="477300" cy="221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Dashboard</a:t>
            </a:r>
            <a:endParaRPr b="1" sz="1200">
              <a:solidFill>
                <a:schemeClr val="dk2"/>
              </a:solidFill>
            </a:endParaRPr>
          </a:p>
        </p:txBody>
      </p:sp>
      <p:sp>
        <p:nvSpPr>
          <p:cNvPr id="153" name="Google Shape;153;p16"/>
          <p:cNvSpPr/>
          <p:nvPr/>
        </p:nvSpPr>
        <p:spPr>
          <a:xfrm>
            <a:off x="211675" y="626175"/>
            <a:ext cx="3117600" cy="308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6"/>
          <p:cNvSpPr txBox="1"/>
          <p:nvPr/>
        </p:nvSpPr>
        <p:spPr>
          <a:xfrm>
            <a:off x="223749" y="643825"/>
            <a:ext cx="31236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Incentive </a:t>
            </a:r>
            <a:endParaRPr b="1" sz="1000">
              <a:solidFill>
                <a:schemeClr val="dk2"/>
              </a:solidFill>
            </a:endParaRPr>
          </a:p>
        </p:txBody>
      </p:sp>
      <p:sp>
        <p:nvSpPr>
          <p:cNvPr id="155" name="Google Shape;155;p16"/>
          <p:cNvSpPr/>
          <p:nvPr/>
        </p:nvSpPr>
        <p:spPr>
          <a:xfrm>
            <a:off x="264575" y="1058325"/>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Lead to pitch - Credit gained </a:t>
            </a:r>
            <a:endParaRPr sz="1000"/>
          </a:p>
        </p:txBody>
      </p:sp>
      <p:sp>
        <p:nvSpPr>
          <p:cNvPr id="156" name="Google Shape;156;p16"/>
          <p:cNvSpPr/>
          <p:nvPr/>
        </p:nvSpPr>
        <p:spPr>
          <a:xfrm>
            <a:off x="1307725" y="1058325"/>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Lead to Booking - Credit gained </a:t>
            </a:r>
            <a:endParaRPr sz="1000"/>
          </a:p>
        </p:txBody>
      </p:sp>
      <p:sp>
        <p:nvSpPr>
          <p:cNvPr id="157" name="Google Shape;157;p16"/>
          <p:cNvSpPr/>
          <p:nvPr/>
        </p:nvSpPr>
        <p:spPr>
          <a:xfrm>
            <a:off x="2350875" y="1058325"/>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Booking to PO = Credit gained </a:t>
            </a:r>
            <a:endParaRPr sz="1000"/>
          </a:p>
        </p:txBody>
      </p:sp>
      <p:sp>
        <p:nvSpPr>
          <p:cNvPr id="158" name="Google Shape;158;p16"/>
          <p:cNvSpPr/>
          <p:nvPr/>
        </p:nvSpPr>
        <p:spPr>
          <a:xfrm>
            <a:off x="3394039" y="1060794"/>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Total</a:t>
            </a:r>
            <a:r>
              <a:rPr lang="en" sz="1000"/>
              <a:t> Number of Pitch </a:t>
            </a:r>
            <a:endParaRPr sz="1000"/>
          </a:p>
        </p:txBody>
      </p:sp>
      <p:sp>
        <p:nvSpPr>
          <p:cNvPr id="159" name="Google Shape;159;p16"/>
          <p:cNvSpPr/>
          <p:nvPr/>
        </p:nvSpPr>
        <p:spPr>
          <a:xfrm>
            <a:off x="4437214" y="1060794"/>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Escalation </a:t>
            </a:r>
            <a:endParaRPr sz="1000"/>
          </a:p>
        </p:txBody>
      </p:sp>
      <p:sp>
        <p:nvSpPr>
          <p:cNvPr id="160" name="Google Shape;160;p16"/>
          <p:cNvSpPr/>
          <p:nvPr/>
        </p:nvSpPr>
        <p:spPr>
          <a:xfrm>
            <a:off x="5480378" y="1063264"/>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Furniture incentive - Rs.</a:t>
            </a:r>
            <a:endParaRPr sz="1000"/>
          </a:p>
        </p:txBody>
      </p:sp>
      <p:sp>
        <p:nvSpPr>
          <p:cNvPr id="161" name="Google Shape;161;p16"/>
          <p:cNvSpPr/>
          <p:nvPr/>
        </p:nvSpPr>
        <p:spPr>
          <a:xfrm>
            <a:off x="6523542" y="1048094"/>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Portfolio </a:t>
            </a:r>
            <a:r>
              <a:rPr lang="en" sz="1000"/>
              <a:t>incentive - no of project -  Value</a:t>
            </a:r>
            <a:endParaRPr sz="1000"/>
          </a:p>
        </p:txBody>
      </p:sp>
      <p:sp>
        <p:nvSpPr>
          <p:cNvPr id="162" name="Google Shape;162;p16"/>
          <p:cNvSpPr/>
          <p:nvPr/>
        </p:nvSpPr>
        <p:spPr>
          <a:xfrm>
            <a:off x="1305261" y="1773769"/>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Total credit - Value </a:t>
            </a:r>
            <a:endParaRPr sz="1000"/>
          </a:p>
        </p:txBody>
      </p:sp>
      <p:sp>
        <p:nvSpPr>
          <p:cNvPr id="163" name="Google Shape;163;p16"/>
          <p:cNvSpPr/>
          <p:nvPr/>
        </p:nvSpPr>
        <p:spPr>
          <a:xfrm>
            <a:off x="2348411" y="1773769"/>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Core credit earned- value </a:t>
            </a:r>
            <a:endParaRPr sz="1000"/>
          </a:p>
        </p:txBody>
      </p:sp>
      <p:sp>
        <p:nvSpPr>
          <p:cNvPr id="164" name="Google Shape;164;p16"/>
          <p:cNvSpPr/>
          <p:nvPr/>
        </p:nvSpPr>
        <p:spPr>
          <a:xfrm>
            <a:off x="3391561" y="1773769"/>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Booster</a:t>
            </a:r>
            <a:r>
              <a:rPr lang="en" sz="1000"/>
              <a:t> credit earned - value</a:t>
            </a:r>
            <a:endParaRPr sz="1000"/>
          </a:p>
        </p:txBody>
      </p:sp>
      <p:sp>
        <p:nvSpPr>
          <p:cNvPr id="165" name="Google Shape;165;p16"/>
          <p:cNvSpPr/>
          <p:nvPr/>
        </p:nvSpPr>
        <p:spPr>
          <a:xfrm>
            <a:off x="4434711" y="1773769"/>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Designer </a:t>
            </a:r>
            <a:r>
              <a:rPr lang="en" sz="800"/>
              <a:t>(name)</a:t>
            </a:r>
            <a:r>
              <a:rPr lang="en" sz="1000"/>
              <a:t>wallet - Rs.</a:t>
            </a:r>
            <a:r>
              <a:rPr lang="en" sz="1000"/>
              <a:t> </a:t>
            </a:r>
            <a:endParaRPr sz="1000"/>
          </a:p>
        </p:txBody>
      </p:sp>
      <p:sp>
        <p:nvSpPr>
          <p:cNvPr id="166" name="Google Shape;166;p16"/>
          <p:cNvSpPr/>
          <p:nvPr/>
        </p:nvSpPr>
        <p:spPr>
          <a:xfrm>
            <a:off x="262111" y="1773769"/>
            <a:ext cx="996600" cy="5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Potential earnings - Rs</a:t>
            </a:r>
            <a:endParaRPr sz="1000"/>
          </a:p>
        </p:txBody>
      </p:sp>
      <p:sp>
        <p:nvSpPr>
          <p:cNvPr id="167" name="Google Shape;167;p16"/>
          <p:cNvSpPr txBox="1"/>
          <p:nvPr/>
        </p:nvSpPr>
        <p:spPr>
          <a:xfrm>
            <a:off x="779625" y="2489225"/>
            <a:ext cx="6523500" cy="17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Incentive calculation method is given as pdf - its interlinked with the NPS system - only after getting the nps - </a:t>
            </a:r>
            <a:r>
              <a:rPr lang="en" sz="800">
                <a:solidFill>
                  <a:schemeClr val="dk2"/>
                </a:solidFill>
              </a:rPr>
              <a:t>credit</a:t>
            </a:r>
            <a:r>
              <a:rPr lang="en" sz="800">
                <a:solidFill>
                  <a:schemeClr val="dk2"/>
                </a:solidFill>
              </a:rPr>
              <a:t> and wallet reflection is shown in the dashboard</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Pipeline</a:t>
            </a:r>
            <a:endParaRPr b="1" sz="1200">
              <a:solidFill>
                <a:schemeClr val="dk2"/>
              </a:solidFill>
            </a:endParaRPr>
          </a:p>
        </p:txBody>
      </p:sp>
      <p:pic>
        <p:nvPicPr>
          <p:cNvPr id="173" name="Google Shape;173;p17"/>
          <p:cNvPicPr preferRelativeResize="0"/>
          <p:nvPr/>
        </p:nvPicPr>
        <p:blipFill rotWithShape="1">
          <a:blip r:embed="rId3">
            <a:alphaModFix/>
          </a:blip>
          <a:srcRect b="6723" l="0" r="0" t="9755"/>
          <a:stretch/>
        </p:blipFill>
        <p:spPr>
          <a:xfrm>
            <a:off x="108438" y="423325"/>
            <a:ext cx="7332526" cy="3827651"/>
          </a:xfrm>
          <a:prstGeom prst="rect">
            <a:avLst/>
          </a:prstGeom>
          <a:noFill/>
          <a:ln>
            <a:noFill/>
          </a:ln>
        </p:spPr>
      </p:pic>
      <p:sp>
        <p:nvSpPr>
          <p:cNvPr id="174" name="Google Shape;174;p17"/>
          <p:cNvSpPr/>
          <p:nvPr/>
        </p:nvSpPr>
        <p:spPr>
          <a:xfrm>
            <a:off x="2910400" y="626200"/>
            <a:ext cx="1728600" cy="47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5" name="Google Shape;175;p17"/>
          <p:cNvCxnSpPr/>
          <p:nvPr/>
        </p:nvCxnSpPr>
        <p:spPr>
          <a:xfrm flipH="1">
            <a:off x="3219100" y="1023050"/>
            <a:ext cx="44100" cy="485100"/>
          </a:xfrm>
          <a:prstGeom prst="straightConnector1">
            <a:avLst/>
          </a:prstGeom>
          <a:noFill/>
          <a:ln cap="flat" cmpd="sng" w="9525">
            <a:solidFill>
              <a:schemeClr val="dk2"/>
            </a:solidFill>
            <a:prstDash val="solid"/>
            <a:round/>
            <a:headEnd len="med" w="med" type="none"/>
            <a:tailEnd len="med" w="med" type="none"/>
          </a:ln>
        </p:spPr>
      </p:cxnSp>
      <p:sp>
        <p:nvSpPr>
          <p:cNvPr id="176" name="Google Shape;176;p17"/>
          <p:cNvSpPr txBox="1"/>
          <p:nvPr/>
        </p:nvSpPr>
        <p:spPr>
          <a:xfrm>
            <a:off x="2734050" y="1349375"/>
            <a:ext cx="14730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Rename to </a:t>
            </a:r>
            <a:r>
              <a:rPr lang="en" sz="800">
                <a:solidFill>
                  <a:srgbClr val="FF0000"/>
                </a:solidFill>
              </a:rPr>
              <a:t>search</a:t>
            </a:r>
            <a:r>
              <a:rPr lang="en" sz="800">
                <a:solidFill>
                  <a:schemeClr val="dk2"/>
                </a:solidFill>
              </a:rPr>
              <a:t> </a:t>
            </a:r>
            <a:endParaRPr sz="800">
              <a:solidFill>
                <a:schemeClr val="dk2"/>
              </a:solidFill>
            </a:endParaRPr>
          </a:p>
        </p:txBody>
      </p:sp>
      <p:sp>
        <p:nvSpPr>
          <p:cNvPr id="177" name="Google Shape;177;p17"/>
          <p:cNvSpPr/>
          <p:nvPr/>
        </p:nvSpPr>
        <p:spPr>
          <a:xfrm>
            <a:off x="4700775" y="776100"/>
            <a:ext cx="537900" cy="24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Filter</a:t>
            </a:r>
            <a:endParaRPr sz="800"/>
          </a:p>
        </p:txBody>
      </p:sp>
      <p:cxnSp>
        <p:nvCxnSpPr>
          <p:cNvPr id="178" name="Google Shape;178;p17"/>
          <p:cNvCxnSpPr>
            <a:stCxn id="177" idx="1"/>
          </p:cNvCxnSpPr>
          <p:nvPr/>
        </p:nvCxnSpPr>
        <p:spPr>
          <a:xfrm flipH="1">
            <a:off x="4586175" y="899550"/>
            <a:ext cx="114600" cy="537900"/>
          </a:xfrm>
          <a:prstGeom prst="straightConnector1">
            <a:avLst/>
          </a:prstGeom>
          <a:noFill/>
          <a:ln cap="flat" cmpd="sng" w="9525">
            <a:solidFill>
              <a:schemeClr val="dk2"/>
            </a:solidFill>
            <a:prstDash val="solid"/>
            <a:round/>
            <a:headEnd len="med" w="med" type="none"/>
            <a:tailEnd len="med" w="med" type="none"/>
          </a:ln>
        </p:spPr>
      </p:cxnSp>
      <p:sp>
        <p:nvSpPr>
          <p:cNvPr id="179" name="Google Shape;179;p17"/>
          <p:cNvSpPr txBox="1"/>
          <p:nvPr/>
        </p:nvSpPr>
        <p:spPr>
          <a:xfrm>
            <a:off x="4174075" y="1246025"/>
            <a:ext cx="2475900" cy="15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Filter </a:t>
            </a:r>
            <a:r>
              <a:rPr lang="en" sz="800">
                <a:solidFill>
                  <a:schemeClr val="dk2"/>
                </a:solidFill>
              </a:rPr>
              <a:t>option</a:t>
            </a:r>
            <a:r>
              <a:rPr lang="en" sz="800">
                <a:solidFill>
                  <a:schemeClr val="dk2"/>
                </a:solidFill>
              </a:rPr>
              <a:t>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Filter criteria </a:t>
            </a:r>
            <a:endParaRPr b="1" sz="800">
              <a:solidFill>
                <a:schemeClr val="dk2"/>
              </a:solidFill>
            </a:endParaRPr>
          </a:p>
          <a:p>
            <a:pPr indent="0" lvl="0" marL="0" rtl="0" algn="l">
              <a:spcBef>
                <a:spcPts val="0"/>
              </a:spcBef>
              <a:spcAft>
                <a:spcPts val="0"/>
              </a:spcAft>
              <a:buNone/>
            </a:pPr>
            <a:r>
              <a:t/>
            </a:r>
            <a:endParaRPr b="1" sz="800">
              <a:solidFill>
                <a:schemeClr val="dk2"/>
              </a:solidFill>
            </a:endParaRPr>
          </a:p>
          <a:p>
            <a:pPr indent="0" lvl="0" marL="0" rtl="0" algn="l">
              <a:spcBef>
                <a:spcPts val="0"/>
              </a:spcBef>
              <a:spcAft>
                <a:spcPts val="0"/>
              </a:spcAft>
              <a:buNone/>
            </a:pPr>
            <a:r>
              <a:rPr lang="en" sz="800">
                <a:solidFill>
                  <a:schemeClr val="dk2"/>
                </a:solidFill>
              </a:rPr>
              <a:t>Lead </a:t>
            </a:r>
            <a:r>
              <a:rPr lang="en" sz="800">
                <a:solidFill>
                  <a:schemeClr val="dk2"/>
                </a:solidFill>
              </a:rPr>
              <a:t>origin</a:t>
            </a:r>
            <a:r>
              <a:rPr lang="en" sz="800">
                <a:solidFill>
                  <a:schemeClr val="dk2"/>
                </a:solidFill>
              </a:rPr>
              <a:t> date - ( from -  to </a:t>
            </a:r>
            <a:r>
              <a:rPr lang="en" sz="800">
                <a:solidFill>
                  <a:schemeClr val="dk2"/>
                </a:solidFill>
              </a:rPr>
              <a:t>Calendar</a:t>
            </a:r>
            <a:r>
              <a:rPr lang="en" sz="800">
                <a:solidFill>
                  <a:schemeClr val="dk2"/>
                </a:solidFill>
              </a:rPr>
              <a:t> )</a:t>
            </a:r>
            <a:endParaRPr sz="800">
              <a:solidFill>
                <a:schemeClr val="dk2"/>
              </a:solidFill>
            </a:endParaRPr>
          </a:p>
          <a:p>
            <a:pPr indent="0" lvl="0" marL="0" rtl="0" algn="l">
              <a:spcBef>
                <a:spcPts val="0"/>
              </a:spcBef>
              <a:spcAft>
                <a:spcPts val="0"/>
              </a:spcAft>
              <a:buNone/>
            </a:pPr>
            <a:r>
              <a:rPr lang="en" sz="800">
                <a:solidFill>
                  <a:schemeClr val="dk2"/>
                </a:solidFill>
              </a:rPr>
              <a:t>Lead origin month - 16 to 15 th cycle</a:t>
            </a:r>
            <a:endParaRPr sz="800">
              <a:solidFill>
                <a:schemeClr val="dk2"/>
              </a:solidFill>
            </a:endParaRPr>
          </a:p>
          <a:p>
            <a:pPr indent="0" lvl="0" marL="0" rtl="0" algn="l">
              <a:spcBef>
                <a:spcPts val="0"/>
              </a:spcBef>
              <a:spcAft>
                <a:spcPts val="0"/>
              </a:spcAft>
              <a:buNone/>
            </a:pPr>
            <a:r>
              <a:rPr lang="en" sz="800">
                <a:solidFill>
                  <a:schemeClr val="dk2"/>
                </a:solidFill>
              </a:rPr>
              <a:t>Budget - Value </a:t>
            </a:r>
            <a:endParaRPr sz="800">
              <a:solidFill>
                <a:schemeClr val="dk2"/>
              </a:solidFill>
            </a:endParaRPr>
          </a:p>
          <a:p>
            <a:pPr indent="0" lvl="0" marL="0" rtl="0" algn="l">
              <a:spcBef>
                <a:spcPts val="0"/>
              </a:spcBef>
              <a:spcAft>
                <a:spcPts val="0"/>
              </a:spcAft>
              <a:buNone/>
            </a:pPr>
            <a:r>
              <a:rPr lang="en" sz="800">
                <a:solidFill>
                  <a:schemeClr val="dk2"/>
                </a:solidFill>
              </a:rPr>
              <a:t>Possession</a:t>
            </a:r>
            <a:r>
              <a:rPr lang="en" sz="800">
                <a:solidFill>
                  <a:schemeClr val="dk2"/>
                </a:solidFill>
              </a:rPr>
              <a:t> - date in calender </a:t>
            </a:r>
            <a:endParaRPr sz="800">
              <a:solidFill>
                <a:schemeClr val="dk2"/>
              </a:solidFill>
            </a:endParaRPr>
          </a:p>
          <a:p>
            <a:pPr indent="0" lvl="0" marL="0" rtl="0" algn="l">
              <a:spcBef>
                <a:spcPts val="0"/>
              </a:spcBef>
              <a:spcAft>
                <a:spcPts val="0"/>
              </a:spcAft>
              <a:buNone/>
            </a:pPr>
            <a:r>
              <a:rPr lang="en" sz="800">
                <a:solidFill>
                  <a:schemeClr val="dk2"/>
                </a:solidFill>
              </a:rPr>
              <a:t>Intent - star </a:t>
            </a:r>
            <a:endParaRPr sz="800">
              <a:solidFill>
                <a:schemeClr val="dk2"/>
              </a:solidFill>
            </a:endParaRPr>
          </a:p>
          <a:p>
            <a:pPr indent="0" lvl="0" marL="0" rtl="0" algn="l">
              <a:spcBef>
                <a:spcPts val="0"/>
              </a:spcBef>
              <a:spcAft>
                <a:spcPts val="0"/>
              </a:spcAft>
              <a:buNone/>
            </a:pPr>
            <a:r>
              <a:rPr lang="en" sz="800">
                <a:solidFill>
                  <a:schemeClr val="dk2"/>
                </a:solidFill>
              </a:rPr>
              <a:t>Projected OB </a:t>
            </a:r>
            <a:r>
              <a:rPr lang="en" sz="800">
                <a:solidFill>
                  <a:schemeClr val="dk2"/>
                </a:solidFill>
              </a:rPr>
              <a:t>( from -  to Calendar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180" name="Google Shape;180;p17"/>
          <p:cNvSpPr txBox="1"/>
          <p:nvPr/>
        </p:nvSpPr>
        <p:spPr>
          <a:xfrm>
            <a:off x="608550" y="1246025"/>
            <a:ext cx="652500" cy="1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Sales </a:t>
            </a:r>
            <a:endParaRPr sz="800">
              <a:solidFill>
                <a:schemeClr val="dk2"/>
              </a:solidFill>
            </a:endParaRPr>
          </a:p>
        </p:txBody>
      </p:sp>
      <p:cxnSp>
        <p:nvCxnSpPr>
          <p:cNvPr id="181" name="Google Shape;181;p17"/>
          <p:cNvCxnSpPr>
            <a:stCxn id="180" idx="1"/>
          </p:cNvCxnSpPr>
          <p:nvPr/>
        </p:nvCxnSpPr>
        <p:spPr>
          <a:xfrm>
            <a:off x="608550" y="1316525"/>
            <a:ext cx="2116800" cy="1391100"/>
          </a:xfrm>
          <a:prstGeom prst="straightConnector1">
            <a:avLst/>
          </a:prstGeom>
          <a:noFill/>
          <a:ln cap="flat" cmpd="sng" w="9525">
            <a:solidFill>
              <a:schemeClr val="dk2"/>
            </a:solidFill>
            <a:prstDash val="solid"/>
            <a:round/>
            <a:headEnd len="med" w="med" type="none"/>
            <a:tailEnd len="med" w="med" type="none"/>
          </a:ln>
        </p:spPr>
      </p:cxnSp>
      <p:sp>
        <p:nvSpPr>
          <p:cNvPr id="182" name="Google Shape;182;p17"/>
          <p:cNvSpPr txBox="1"/>
          <p:nvPr/>
        </p:nvSpPr>
        <p:spPr>
          <a:xfrm>
            <a:off x="2725350" y="2630625"/>
            <a:ext cx="24759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Rename it to “Sales Pipeline” </a:t>
            </a:r>
            <a:endParaRPr sz="800">
              <a:solidFill>
                <a:schemeClr val="dk2"/>
              </a:solidFill>
            </a:endParaRPr>
          </a:p>
          <a:p>
            <a:pPr indent="0" lvl="0" marL="0" rtl="0" algn="l">
              <a:spcBef>
                <a:spcPts val="0"/>
              </a:spcBef>
              <a:spcAft>
                <a:spcPts val="0"/>
              </a:spcAft>
              <a:buNone/>
            </a:pPr>
            <a:r>
              <a:rPr lang="en" sz="800">
                <a:solidFill>
                  <a:schemeClr val="dk2"/>
                </a:solidFill>
              </a:rPr>
              <a:t>Add Separate “Design Pipeline” tab below that </a:t>
            </a:r>
            <a:endParaRPr sz="800">
              <a:solidFill>
                <a:schemeClr val="dk2"/>
              </a:solidFill>
            </a:endParaRPr>
          </a:p>
        </p:txBody>
      </p:sp>
      <p:sp>
        <p:nvSpPr>
          <p:cNvPr id="183" name="Google Shape;183;p17"/>
          <p:cNvSpPr txBox="1"/>
          <p:nvPr/>
        </p:nvSpPr>
        <p:spPr>
          <a:xfrm>
            <a:off x="4586175" y="2930250"/>
            <a:ext cx="2475900" cy="15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Filter criteria - Pipeline Design</a:t>
            </a:r>
            <a:endParaRPr b="1" sz="800">
              <a:solidFill>
                <a:schemeClr val="dk2"/>
              </a:solidFill>
            </a:endParaRPr>
          </a:p>
          <a:p>
            <a:pPr indent="0" lvl="0" marL="0" rtl="0" algn="l">
              <a:spcBef>
                <a:spcPts val="0"/>
              </a:spcBef>
              <a:spcAft>
                <a:spcPts val="0"/>
              </a:spcAft>
              <a:buNone/>
            </a:pPr>
            <a:r>
              <a:t/>
            </a:r>
            <a:endParaRPr b="1" sz="800">
              <a:solidFill>
                <a:schemeClr val="dk2"/>
              </a:solidFill>
            </a:endParaRPr>
          </a:p>
          <a:p>
            <a:pPr indent="0" lvl="0" marL="0" rtl="0" algn="l">
              <a:spcBef>
                <a:spcPts val="0"/>
              </a:spcBef>
              <a:spcAft>
                <a:spcPts val="0"/>
              </a:spcAft>
              <a:buNone/>
            </a:pPr>
            <a:r>
              <a:rPr lang="en" sz="800">
                <a:solidFill>
                  <a:schemeClr val="dk2"/>
                </a:solidFill>
              </a:rPr>
              <a:t>Stages with dates as per the timeline given in the road map </a:t>
            </a:r>
            <a:endParaRPr sz="800">
              <a:solidFill>
                <a:schemeClr val="dk2"/>
              </a:solidFill>
            </a:endParaRPr>
          </a:p>
          <a:p>
            <a:pPr indent="0" lvl="0" marL="0" rtl="0" algn="l">
              <a:spcBef>
                <a:spcPts val="0"/>
              </a:spcBef>
              <a:spcAft>
                <a:spcPts val="0"/>
              </a:spcAft>
              <a:buNone/>
            </a:pPr>
            <a:r>
              <a:rPr lang="en" sz="800">
                <a:solidFill>
                  <a:schemeClr val="dk2"/>
                </a:solidFill>
              </a:rPr>
              <a:t>Total active dates - </a:t>
            </a:r>
            <a:r>
              <a:rPr lang="en" sz="800">
                <a:solidFill>
                  <a:schemeClr val="dk2"/>
                </a:solidFill>
              </a:rPr>
              <a:t>calendar</a:t>
            </a:r>
            <a:r>
              <a:rPr lang="en" sz="800">
                <a:solidFill>
                  <a:schemeClr val="dk2"/>
                </a:solidFill>
              </a:rPr>
              <a:t> </a:t>
            </a:r>
            <a:endParaRPr sz="800">
              <a:solidFill>
                <a:schemeClr val="dk2"/>
              </a:solidFill>
            </a:endParaRPr>
          </a:p>
          <a:p>
            <a:pPr indent="0" lvl="0" marL="0" rtl="0" algn="l">
              <a:spcBef>
                <a:spcPts val="0"/>
              </a:spcBef>
              <a:spcAft>
                <a:spcPts val="0"/>
              </a:spcAft>
              <a:buNone/>
            </a:pPr>
            <a:r>
              <a:rPr lang="en" sz="800">
                <a:solidFill>
                  <a:schemeClr val="dk2"/>
                </a:solidFill>
              </a:rPr>
              <a:t>Handover dates (</a:t>
            </a:r>
            <a:r>
              <a:rPr lang="en" sz="800">
                <a:solidFill>
                  <a:schemeClr val="dk2"/>
                </a:solidFill>
              </a:rPr>
              <a:t>Possession</a:t>
            </a:r>
            <a:r>
              <a:rPr lang="en" sz="800">
                <a:solidFill>
                  <a:schemeClr val="dk2"/>
                </a:solidFill>
              </a:rPr>
              <a:t>)</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184" name="Google Shape;184;p17"/>
          <p:cNvCxnSpPr/>
          <p:nvPr/>
        </p:nvCxnSpPr>
        <p:spPr>
          <a:xfrm>
            <a:off x="308675" y="1552225"/>
            <a:ext cx="2469600" cy="2001900"/>
          </a:xfrm>
          <a:prstGeom prst="straightConnector1">
            <a:avLst/>
          </a:prstGeom>
          <a:noFill/>
          <a:ln cap="flat" cmpd="sng" w="9525">
            <a:solidFill>
              <a:schemeClr val="dk2"/>
            </a:solidFill>
            <a:prstDash val="solid"/>
            <a:round/>
            <a:headEnd len="med" w="med" type="none"/>
            <a:tailEnd len="med" w="med" type="none"/>
          </a:ln>
        </p:spPr>
      </p:cxnSp>
      <p:sp>
        <p:nvSpPr>
          <p:cNvPr id="185" name="Google Shape;185;p17"/>
          <p:cNvSpPr txBox="1"/>
          <p:nvPr/>
        </p:nvSpPr>
        <p:spPr>
          <a:xfrm>
            <a:off x="2639625" y="3554125"/>
            <a:ext cx="17286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Projects below the lead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186" name="Google Shape;186;p17"/>
          <p:cNvCxnSpPr/>
          <p:nvPr/>
        </p:nvCxnSpPr>
        <p:spPr>
          <a:xfrm rot="10800000">
            <a:off x="1049600" y="379350"/>
            <a:ext cx="670200" cy="873000"/>
          </a:xfrm>
          <a:prstGeom prst="straightConnector1">
            <a:avLst/>
          </a:prstGeom>
          <a:noFill/>
          <a:ln cap="flat" cmpd="sng" w="9525">
            <a:solidFill>
              <a:schemeClr val="dk2"/>
            </a:solidFill>
            <a:prstDash val="solid"/>
            <a:round/>
            <a:headEnd len="med" w="med" type="none"/>
            <a:tailEnd len="med" w="med" type="none"/>
          </a:ln>
        </p:spPr>
      </p:cxnSp>
      <p:sp>
        <p:nvSpPr>
          <p:cNvPr id="187" name="Google Shape;187;p17"/>
          <p:cNvSpPr txBox="1"/>
          <p:nvPr/>
        </p:nvSpPr>
        <p:spPr>
          <a:xfrm>
            <a:off x="0" y="0"/>
            <a:ext cx="17286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Remove Effective lead from designer dashboard</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a:t>
            </a:r>
            <a:endParaRPr b="1" sz="1200">
              <a:solidFill>
                <a:schemeClr val="dk2"/>
              </a:solidFill>
            </a:endParaRPr>
          </a:p>
        </p:txBody>
      </p:sp>
      <p:pic>
        <p:nvPicPr>
          <p:cNvPr id="193" name="Google Shape;193;p18"/>
          <p:cNvPicPr preferRelativeResize="0"/>
          <p:nvPr/>
        </p:nvPicPr>
        <p:blipFill rotWithShape="1">
          <a:blip r:embed="rId3">
            <a:alphaModFix/>
          </a:blip>
          <a:srcRect b="13263" l="0" r="0" t="25728"/>
          <a:stretch/>
        </p:blipFill>
        <p:spPr>
          <a:xfrm>
            <a:off x="328775" y="564450"/>
            <a:ext cx="7332526" cy="2795750"/>
          </a:xfrm>
          <a:prstGeom prst="rect">
            <a:avLst/>
          </a:prstGeom>
          <a:noFill/>
          <a:ln>
            <a:noFill/>
          </a:ln>
        </p:spPr>
      </p:pic>
      <p:sp>
        <p:nvSpPr>
          <p:cNvPr id="194" name="Google Shape;194;p18"/>
          <p:cNvSpPr/>
          <p:nvPr/>
        </p:nvSpPr>
        <p:spPr>
          <a:xfrm>
            <a:off x="5379850" y="1825625"/>
            <a:ext cx="635100" cy="476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 name="Google Shape;195;p18"/>
          <p:cNvCxnSpPr/>
          <p:nvPr/>
        </p:nvCxnSpPr>
        <p:spPr>
          <a:xfrm>
            <a:off x="5697350" y="2028475"/>
            <a:ext cx="617400" cy="35400"/>
          </a:xfrm>
          <a:prstGeom prst="straightConnector1">
            <a:avLst/>
          </a:prstGeom>
          <a:noFill/>
          <a:ln cap="flat" cmpd="sng" w="9525">
            <a:solidFill>
              <a:schemeClr val="dk2"/>
            </a:solidFill>
            <a:prstDash val="solid"/>
            <a:round/>
            <a:headEnd len="med" w="med" type="none"/>
            <a:tailEnd len="med" w="med" type="none"/>
          </a:ln>
        </p:spPr>
      </p:cxnSp>
      <p:sp>
        <p:nvSpPr>
          <p:cNvPr id="196" name="Google Shape;196;p18"/>
          <p:cNvSpPr txBox="1"/>
          <p:nvPr/>
        </p:nvSpPr>
        <p:spPr>
          <a:xfrm>
            <a:off x="6270625" y="1896175"/>
            <a:ext cx="12966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Remove </a:t>
            </a:r>
            <a:endParaRPr sz="1000">
              <a:solidFill>
                <a:schemeClr val="dk2"/>
              </a:solidFill>
            </a:endParaRPr>
          </a:p>
        </p:txBody>
      </p:sp>
      <p:cxnSp>
        <p:nvCxnSpPr>
          <p:cNvPr id="197" name="Google Shape;197;p18"/>
          <p:cNvCxnSpPr/>
          <p:nvPr/>
        </p:nvCxnSpPr>
        <p:spPr>
          <a:xfrm rot="10800000">
            <a:off x="529325" y="441050"/>
            <a:ext cx="343800" cy="537900"/>
          </a:xfrm>
          <a:prstGeom prst="straightConnector1">
            <a:avLst/>
          </a:prstGeom>
          <a:noFill/>
          <a:ln cap="flat" cmpd="sng" w="9525">
            <a:solidFill>
              <a:schemeClr val="dk2"/>
            </a:solidFill>
            <a:prstDash val="solid"/>
            <a:round/>
            <a:headEnd len="med" w="med" type="none"/>
            <a:tailEnd len="med" w="med" type="none"/>
          </a:ln>
        </p:spPr>
      </p:cxnSp>
      <p:sp>
        <p:nvSpPr>
          <p:cNvPr id="198" name="Google Shape;198;p18"/>
          <p:cNvSpPr txBox="1"/>
          <p:nvPr/>
        </p:nvSpPr>
        <p:spPr>
          <a:xfrm>
            <a:off x="114700" y="88175"/>
            <a:ext cx="2475900" cy="5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Each time new leads are </a:t>
            </a:r>
            <a:r>
              <a:rPr lang="en" sz="800">
                <a:solidFill>
                  <a:schemeClr val="dk2"/>
                </a:solidFill>
              </a:rPr>
              <a:t>received</a:t>
            </a:r>
            <a:r>
              <a:rPr lang="en" sz="800">
                <a:solidFill>
                  <a:schemeClr val="dk2"/>
                </a:solidFill>
              </a:rPr>
              <a:t> it should show the number unless the leads are open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199" name="Google Shape;199;p18"/>
          <p:cNvSpPr/>
          <p:nvPr/>
        </p:nvSpPr>
        <p:spPr>
          <a:xfrm>
            <a:off x="1622775" y="2566450"/>
            <a:ext cx="5838600" cy="211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 name="Google Shape;200;p18"/>
          <p:cNvCxnSpPr/>
          <p:nvPr/>
        </p:nvCxnSpPr>
        <p:spPr>
          <a:xfrm flipH="1">
            <a:off x="1525725" y="2654650"/>
            <a:ext cx="1525800" cy="873000"/>
          </a:xfrm>
          <a:prstGeom prst="straightConnector1">
            <a:avLst/>
          </a:prstGeom>
          <a:noFill/>
          <a:ln cap="flat" cmpd="sng" w="9525">
            <a:solidFill>
              <a:schemeClr val="dk2"/>
            </a:solidFill>
            <a:prstDash val="solid"/>
            <a:round/>
            <a:headEnd len="med" w="med" type="none"/>
            <a:tailEnd len="med" w="med" type="none"/>
          </a:ln>
        </p:spPr>
      </p:cxnSp>
      <p:sp>
        <p:nvSpPr>
          <p:cNvPr id="201" name="Google Shape;201;p18"/>
          <p:cNvSpPr txBox="1"/>
          <p:nvPr/>
        </p:nvSpPr>
        <p:spPr>
          <a:xfrm>
            <a:off x="170075" y="3574325"/>
            <a:ext cx="2475900" cy="5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Unopened leads to be </a:t>
            </a:r>
            <a:r>
              <a:rPr lang="en" sz="800">
                <a:solidFill>
                  <a:schemeClr val="dk2"/>
                </a:solidFill>
              </a:rPr>
              <a:t>highlighted</a:t>
            </a:r>
            <a:r>
              <a:rPr lang="en" sz="800">
                <a:solidFill>
                  <a:schemeClr val="dk2"/>
                </a:solidFill>
              </a:rPr>
              <a:t> in </a:t>
            </a:r>
            <a:r>
              <a:rPr lang="en" sz="800">
                <a:solidFill>
                  <a:schemeClr val="dk2"/>
                </a:solidFill>
              </a:rPr>
              <a:t>different</a:t>
            </a:r>
            <a:r>
              <a:rPr lang="en" sz="800">
                <a:solidFill>
                  <a:schemeClr val="dk2"/>
                </a:solidFill>
              </a:rPr>
              <a:t> clr - like mails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p:nvPr/>
        </p:nvSpPr>
        <p:spPr>
          <a:xfrm>
            <a:off x="2318625" y="854700"/>
            <a:ext cx="708900" cy="222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7" name="Google Shape;207;p19"/>
          <p:cNvPicPr preferRelativeResize="0"/>
          <p:nvPr/>
        </p:nvPicPr>
        <p:blipFill rotWithShape="1">
          <a:blip r:embed="rId3">
            <a:alphaModFix/>
          </a:blip>
          <a:srcRect b="5659" l="0" r="0" t="10378"/>
          <a:stretch/>
        </p:blipFill>
        <p:spPr>
          <a:xfrm>
            <a:off x="246875" y="441050"/>
            <a:ext cx="6433224" cy="3376074"/>
          </a:xfrm>
          <a:prstGeom prst="rect">
            <a:avLst/>
          </a:prstGeom>
          <a:noFill/>
          <a:ln>
            <a:noFill/>
          </a:ln>
        </p:spPr>
      </p:pic>
      <p:sp>
        <p:nvSpPr>
          <p:cNvPr id="208" name="Google Shape;208;p19"/>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a:t>
            </a:r>
            <a:endParaRPr b="1" sz="1200">
              <a:solidFill>
                <a:schemeClr val="dk2"/>
              </a:solidFill>
            </a:endParaRPr>
          </a:p>
        </p:txBody>
      </p:sp>
      <p:cxnSp>
        <p:nvCxnSpPr>
          <p:cNvPr id="209" name="Google Shape;209;p19"/>
          <p:cNvCxnSpPr>
            <a:endCxn id="210" idx="1"/>
          </p:cNvCxnSpPr>
          <p:nvPr/>
        </p:nvCxnSpPr>
        <p:spPr>
          <a:xfrm>
            <a:off x="1670625" y="374550"/>
            <a:ext cx="648000" cy="591600"/>
          </a:xfrm>
          <a:prstGeom prst="straightConnector1">
            <a:avLst/>
          </a:prstGeom>
          <a:noFill/>
          <a:ln cap="flat" cmpd="sng" w="9525">
            <a:solidFill>
              <a:schemeClr val="dk2"/>
            </a:solidFill>
            <a:prstDash val="solid"/>
            <a:round/>
            <a:headEnd len="med" w="med" type="none"/>
            <a:tailEnd len="med" w="med" type="none"/>
          </a:ln>
        </p:spPr>
      </p:cxnSp>
      <p:sp>
        <p:nvSpPr>
          <p:cNvPr id="211" name="Google Shape;211;p19"/>
          <p:cNvSpPr txBox="1"/>
          <p:nvPr/>
        </p:nvSpPr>
        <p:spPr>
          <a:xfrm>
            <a:off x="0" y="-96925"/>
            <a:ext cx="2475900" cy="5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 project status </a:t>
            </a:r>
            <a:endParaRPr sz="800">
              <a:solidFill>
                <a:schemeClr val="dk2"/>
              </a:solidFill>
            </a:endParaRPr>
          </a:p>
          <a:p>
            <a:pPr indent="0" lvl="0" marL="0" rtl="0" algn="l">
              <a:spcBef>
                <a:spcPts val="0"/>
              </a:spcBef>
              <a:spcAft>
                <a:spcPts val="0"/>
              </a:spcAft>
              <a:buNone/>
            </a:pPr>
            <a:r>
              <a:rPr lang="en" sz="800">
                <a:solidFill>
                  <a:schemeClr val="dk2"/>
                </a:solidFill>
              </a:rPr>
              <a:t>Active (Green clr) , </a:t>
            </a:r>
            <a:r>
              <a:rPr lang="en" sz="800">
                <a:solidFill>
                  <a:schemeClr val="dk2"/>
                </a:solidFill>
              </a:rPr>
              <a:t>on hold (Yellow clr)</a:t>
            </a:r>
            <a:r>
              <a:rPr lang="en" sz="800">
                <a:solidFill>
                  <a:schemeClr val="dk2"/>
                </a:solidFill>
              </a:rPr>
              <a:t>, inactive(Red clr) - ( What ever is the current project status has to been shown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12" name="Google Shape;212;p19"/>
          <p:cNvSpPr/>
          <p:nvPr/>
        </p:nvSpPr>
        <p:spPr>
          <a:xfrm>
            <a:off x="2359125" y="799875"/>
            <a:ext cx="529200" cy="2778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9"/>
          <p:cNvSpPr txBox="1"/>
          <p:nvPr/>
        </p:nvSpPr>
        <p:spPr>
          <a:xfrm>
            <a:off x="2318625" y="789750"/>
            <a:ext cx="7089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Active</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13" name="Google Shape;213;p19"/>
          <p:cNvSpPr txBox="1"/>
          <p:nvPr/>
        </p:nvSpPr>
        <p:spPr>
          <a:xfrm>
            <a:off x="6622275" y="539700"/>
            <a:ext cx="2475900" cy="39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If Project is on hold - Reopen date should be asked automatically in </a:t>
            </a:r>
            <a:r>
              <a:rPr lang="en" sz="800">
                <a:solidFill>
                  <a:schemeClr val="dk2"/>
                </a:solidFill>
              </a:rPr>
              <a:t>calendar</a:t>
            </a:r>
            <a:r>
              <a:rPr lang="en" sz="800">
                <a:solidFill>
                  <a:schemeClr val="dk2"/>
                </a:solidFill>
              </a:rPr>
              <a:t> format to select the date with on hold reason tab - along with the reason and date mail has to be shared with client and internal team - </a:t>
            </a:r>
            <a:r>
              <a:rPr lang="en" sz="800">
                <a:solidFill>
                  <a:schemeClr val="dk2"/>
                </a:solidFill>
              </a:rPr>
              <a:t>Mandatory</a:t>
            </a:r>
            <a:r>
              <a:rPr lang="en" sz="800">
                <a:solidFill>
                  <a:schemeClr val="dk2"/>
                </a:solidFill>
              </a:rPr>
              <a:t> both date and reason or project </a:t>
            </a:r>
            <a:r>
              <a:rPr lang="en" sz="800">
                <a:solidFill>
                  <a:schemeClr val="dk2"/>
                </a:solidFill>
              </a:rPr>
              <a:t>will</a:t>
            </a:r>
            <a:r>
              <a:rPr lang="en" sz="800">
                <a:solidFill>
                  <a:schemeClr val="dk2"/>
                </a:solidFill>
              </a:rPr>
              <a:t> not be onhold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the project is inactivated - Reason tab for inactivation to be mandatory - mail </a:t>
            </a:r>
            <a:r>
              <a:rPr lang="en" sz="800">
                <a:solidFill>
                  <a:schemeClr val="dk2"/>
                </a:solidFill>
              </a:rPr>
              <a:t>will</a:t>
            </a:r>
            <a:r>
              <a:rPr lang="en" sz="800">
                <a:solidFill>
                  <a:schemeClr val="dk2"/>
                </a:solidFill>
              </a:rPr>
              <a:t> be shared with client and internal team.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14" name="Google Shape;214;p19"/>
          <p:cNvSpPr/>
          <p:nvPr/>
        </p:nvSpPr>
        <p:spPr>
          <a:xfrm>
            <a:off x="1620000" y="687000"/>
            <a:ext cx="364500" cy="167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9"/>
          <p:cNvSpPr txBox="1"/>
          <p:nvPr/>
        </p:nvSpPr>
        <p:spPr>
          <a:xfrm>
            <a:off x="1574700" y="631950"/>
            <a:ext cx="455100" cy="2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NPS</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216" name="Google Shape;216;p19"/>
          <p:cNvCxnSpPr>
            <a:stCxn id="215" idx="3"/>
          </p:cNvCxnSpPr>
          <p:nvPr/>
        </p:nvCxnSpPr>
        <p:spPr>
          <a:xfrm>
            <a:off x="2029800" y="770850"/>
            <a:ext cx="147000" cy="30969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19"/>
          <p:cNvSpPr txBox="1"/>
          <p:nvPr/>
        </p:nvSpPr>
        <p:spPr>
          <a:xfrm>
            <a:off x="1435125" y="3594375"/>
            <a:ext cx="2475900" cy="10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Nps mail to be </a:t>
            </a:r>
            <a:r>
              <a:rPr lang="en" sz="800">
                <a:solidFill>
                  <a:schemeClr val="dk2"/>
                </a:solidFill>
              </a:rPr>
              <a:t>triggered</a:t>
            </a:r>
            <a:r>
              <a:rPr lang="en" sz="800">
                <a:solidFill>
                  <a:schemeClr val="dk2"/>
                </a:solidFill>
              </a:rPr>
              <a:t> after these stages to client ( designers)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OB </a:t>
            </a:r>
            <a:endParaRPr sz="800">
              <a:solidFill>
                <a:schemeClr val="dk2"/>
              </a:solidFill>
            </a:endParaRPr>
          </a:p>
          <a:p>
            <a:pPr indent="0" lvl="0" marL="0" rtl="0" algn="l">
              <a:spcBef>
                <a:spcPts val="0"/>
              </a:spcBef>
              <a:spcAft>
                <a:spcPts val="0"/>
              </a:spcAft>
              <a:buNone/>
            </a:pPr>
            <a:r>
              <a:rPr lang="en" sz="800">
                <a:solidFill>
                  <a:schemeClr val="dk2"/>
                </a:solidFill>
              </a:rPr>
              <a:t>Design freeze</a:t>
            </a:r>
            <a:endParaRPr sz="800">
              <a:solidFill>
                <a:schemeClr val="dk2"/>
              </a:solidFill>
            </a:endParaRPr>
          </a:p>
          <a:p>
            <a:pPr indent="0" lvl="0" marL="0" rtl="0" algn="l">
              <a:spcBef>
                <a:spcPts val="0"/>
              </a:spcBef>
              <a:spcAft>
                <a:spcPts val="0"/>
              </a:spcAft>
              <a:buNone/>
            </a:pPr>
            <a:r>
              <a:rPr lang="en" sz="800">
                <a:solidFill>
                  <a:schemeClr val="dk2"/>
                </a:solidFill>
              </a:rPr>
              <a:t>Sign off</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Nps displayed near the client name will have the average nps of these 3 stages for designer portal - Admin portal should have the nps tracker fin the system - once the client rate them designer will get the notification in the activity tab.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0"/>
          <p:cNvSpPr txBox="1"/>
          <p:nvPr/>
        </p:nvSpPr>
        <p:spPr>
          <a:xfrm>
            <a:off x="0" y="2622375"/>
            <a:ext cx="2475900" cy="17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Interchange</a:t>
            </a:r>
            <a:r>
              <a:rPr lang="en" sz="800">
                <a:solidFill>
                  <a:schemeClr val="dk2"/>
                </a:solidFill>
              </a:rPr>
              <a:t> - project type and location position (</a:t>
            </a:r>
            <a:r>
              <a:rPr lang="en" sz="800">
                <a:solidFill>
                  <a:schemeClr val="dk2"/>
                </a:solidFill>
              </a:rPr>
              <a:t>first</a:t>
            </a:r>
            <a:r>
              <a:rPr lang="en" sz="800">
                <a:solidFill>
                  <a:schemeClr val="dk2"/>
                </a:solidFill>
              </a:rPr>
              <a:t> </a:t>
            </a:r>
            <a:r>
              <a:rPr lang="en" sz="800">
                <a:solidFill>
                  <a:schemeClr val="dk2"/>
                </a:solidFill>
              </a:rPr>
              <a:t>client</a:t>
            </a:r>
            <a:r>
              <a:rPr lang="en" sz="800">
                <a:solidFill>
                  <a:schemeClr val="dk2"/>
                </a:solidFill>
              </a:rPr>
              <a:t> detail then project details </a:t>
            </a:r>
            <a:r>
              <a:rPr lang="en" sz="800">
                <a:solidFill>
                  <a:schemeClr val="dk2"/>
                </a:solidFill>
              </a:rPr>
              <a:t>that's</a:t>
            </a:r>
            <a:r>
              <a:rPr lang="en" sz="800">
                <a:solidFill>
                  <a:schemeClr val="dk2"/>
                </a:solidFill>
              </a:rPr>
              <a:t> the flow)</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To be Added</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Builder</a:t>
            </a:r>
            <a:endParaRPr sz="800">
              <a:solidFill>
                <a:schemeClr val="dk2"/>
              </a:solidFill>
            </a:endParaRPr>
          </a:p>
          <a:p>
            <a:pPr indent="0" lvl="0" marL="0" rtl="0" algn="l">
              <a:spcBef>
                <a:spcPts val="0"/>
              </a:spcBef>
              <a:spcAft>
                <a:spcPts val="0"/>
              </a:spcAft>
              <a:buNone/>
            </a:pPr>
            <a:r>
              <a:rPr lang="en" sz="800">
                <a:solidFill>
                  <a:schemeClr val="dk2"/>
                </a:solidFill>
              </a:rPr>
              <a:t>Offer </a:t>
            </a:r>
            <a:endParaRPr sz="800">
              <a:solidFill>
                <a:schemeClr val="dk2"/>
              </a:solidFill>
            </a:endParaRPr>
          </a:p>
          <a:p>
            <a:pPr indent="0" lvl="0" marL="0" rtl="0" algn="l">
              <a:spcBef>
                <a:spcPts val="0"/>
              </a:spcBef>
              <a:spcAft>
                <a:spcPts val="0"/>
              </a:spcAft>
              <a:buNone/>
            </a:pPr>
            <a:r>
              <a:rPr lang="en" sz="800">
                <a:solidFill>
                  <a:schemeClr val="dk2"/>
                </a:solidFill>
              </a:rPr>
              <a:t>Notes </a:t>
            </a:r>
            <a:endParaRPr sz="800">
              <a:solidFill>
                <a:schemeClr val="dk2"/>
              </a:solidFill>
            </a:endParaRPr>
          </a:p>
          <a:p>
            <a:pPr indent="0" lvl="0" marL="0" rtl="0" algn="l">
              <a:spcBef>
                <a:spcPts val="0"/>
              </a:spcBef>
              <a:spcAft>
                <a:spcPts val="0"/>
              </a:spcAft>
              <a:buNone/>
            </a:pPr>
            <a:r>
              <a:rPr lang="en" sz="800">
                <a:solidFill>
                  <a:schemeClr val="dk2"/>
                </a:solidFill>
              </a:rPr>
              <a:t>Floor plan </a:t>
            </a:r>
            <a:endParaRPr sz="800">
              <a:solidFill>
                <a:schemeClr val="dk2"/>
              </a:solidFill>
            </a:endParaRPr>
          </a:p>
          <a:p>
            <a:pPr indent="0" lvl="0" marL="0" rtl="0" algn="l">
              <a:spcBef>
                <a:spcPts val="0"/>
              </a:spcBef>
              <a:spcAft>
                <a:spcPts val="0"/>
              </a:spcAft>
              <a:buNone/>
            </a:pPr>
            <a:r>
              <a:rPr lang="en" sz="800">
                <a:solidFill>
                  <a:schemeClr val="dk2"/>
                </a:solidFill>
              </a:rPr>
              <a:t>Expected move in - open calendar to select the date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Change </a:t>
            </a:r>
            <a:r>
              <a:rPr b="1" lang="en" sz="800">
                <a:solidFill>
                  <a:schemeClr val="dk2"/>
                </a:solidFill>
              </a:rPr>
              <a:t>est value</a:t>
            </a:r>
            <a:r>
              <a:rPr lang="en" sz="800">
                <a:solidFill>
                  <a:schemeClr val="dk2"/>
                </a:solidFill>
              </a:rPr>
              <a:t> to </a:t>
            </a:r>
            <a:r>
              <a:rPr b="1" lang="en" sz="800">
                <a:solidFill>
                  <a:schemeClr val="dk2"/>
                </a:solidFill>
              </a:rPr>
              <a:t>Client budget </a:t>
            </a:r>
            <a:endParaRPr b="1"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Everything</a:t>
            </a:r>
            <a:r>
              <a:rPr lang="en" sz="800">
                <a:solidFill>
                  <a:schemeClr val="dk2"/>
                </a:solidFill>
              </a:rPr>
              <a:t> is mandatory except for floor plan and email id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23" name="Google Shape;223;p20"/>
          <p:cNvSpPr txBox="1"/>
          <p:nvPr/>
        </p:nvSpPr>
        <p:spPr>
          <a:xfrm>
            <a:off x="4979263" y="2621625"/>
            <a:ext cx="2475900" cy="8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To be added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Email id </a:t>
            </a:r>
            <a:endParaRPr sz="800">
              <a:solidFill>
                <a:schemeClr val="dk2"/>
              </a:solidFill>
            </a:endParaRPr>
          </a:p>
          <a:p>
            <a:pPr indent="0" lvl="0" marL="0" rtl="0" algn="l">
              <a:spcBef>
                <a:spcPts val="0"/>
              </a:spcBef>
              <a:spcAft>
                <a:spcPts val="0"/>
              </a:spcAft>
              <a:buNone/>
            </a:pPr>
            <a:r>
              <a:rPr lang="en" sz="800">
                <a:solidFill>
                  <a:schemeClr val="dk2"/>
                </a:solidFill>
              </a:rPr>
              <a:t>Builder</a:t>
            </a:r>
            <a:endParaRPr sz="800">
              <a:solidFill>
                <a:schemeClr val="dk2"/>
              </a:solidFill>
            </a:endParaRPr>
          </a:p>
          <a:p>
            <a:pPr indent="0" lvl="0" marL="0" rtl="0" algn="l">
              <a:spcBef>
                <a:spcPts val="0"/>
              </a:spcBef>
              <a:spcAft>
                <a:spcPts val="0"/>
              </a:spcAft>
              <a:buNone/>
            </a:pPr>
            <a:r>
              <a:rPr lang="en" sz="800">
                <a:solidFill>
                  <a:schemeClr val="dk2"/>
                </a:solidFill>
              </a:rPr>
              <a:t>Scope of work</a:t>
            </a:r>
            <a:endParaRPr sz="800">
              <a:solidFill>
                <a:schemeClr val="dk2"/>
              </a:solidFill>
            </a:endParaRPr>
          </a:p>
          <a:p>
            <a:pPr indent="0" lvl="0" marL="0" rtl="0" algn="l">
              <a:spcBef>
                <a:spcPts val="0"/>
              </a:spcBef>
              <a:spcAft>
                <a:spcPts val="0"/>
              </a:spcAft>
              <a:buNone/>
            </a:pPr>
            <a:r>
              <a:rPr b="1" lang="en" sz="800">
                <a:solidFill>
                  <a:schemeClr val="dk2"/>
                </a:solidFill>
              </a:rPr>
              <a:t>Configuration</a:t>
            </a:r>
            <a:r>
              <a:rPr lang="en" sz="800">
                <a:solidFill>
                  <a:schemeClr val="dk2"/>
                </a:solidFill>
              </a:rPr>
              <a:t> - change to </a:t>
            </a:r>
            <a:r>
              <a:rPr b="1" lang="en" sz="800">
                <a:solidFill>
                  <a:schemeClr val="dk2"/>
                </a:solidFill>
              </a:rPr>
              <a:t>project type</a:t>
            </a:r>
            <a:endParaRPr b="1" sz="800">
              <a:solidFill>
                <a:schemeClr val="dk2"/>
              </a:solidFill>
            </a:endParaRPr>
          </a:p>
          <a:p>
            <a:pPr indent="0" lvl="0" marL="0" rtl="0" algn="l">
              <a:spcBef>
                <a:spcPts val="0"/>
              </a:spcBef>
              <a:spcAft>
                <a:spcPts val="0"/>
              </a:spcAft>
              <a:buNone/>
            </a:pPr>
            <a:r>
              <a:rPr lang="en" sz="800">
                <a:solidFill>
                  <a:schemeClr val="dk2"/>
                </a:solidFill>
              </a:rPr>
              <a:t>Change est value to Client budget </a:t>
            </a:r>
            <a:endParaRPr sz="800">
              <a:solidFill>
                <a:schemeClr val="dk2"/>
              </a:solidFill>
            </a:endParaRPr>
          </a:p>
          <a:p>
            <a:pPr indent="0" lvl="0" marL="0" rtl="0" algn="l">
              <a:spcBef>
                <a:spcPts val="0"/>
              </a:spcBef>
              <a:spcAft>
                <a:spcPts val="0"/>
              </a:spcAft>
              <a:buClr>
                <a:schemeClr val="dk1"/>
              </a:buClr>
              <a:buSzPts val="1100"/>
              <a:buFont typeface="Arial"/>
              <a:buNone/>
            </a:pPr>
            <a:r>
              <a:rPr b="1" lang="en" sz="800">
                <a:solidFill>
                  <a:schemeClr val="dk2"/>
                </a:solidFill>
              </a:rPr>
              <a:t>Expected move in - open calendar to select the date </a:t>
            </a:r>
            <a:endParaRPr b="1"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pic>
        <p:nvPicPr>
          <p:cNvPr id="224" name="Google Shape;224;p20"/>
          <p:cNvPicPr preferRelativeResize="0"/>
          <p:nvPr/>
        </p:nvPicPr>
        <p:blipFill rotWithShape="1">
          <a:blip r:embed="rId3">
            <a:alphaModFix/>
          </a:blip>
          <a:srcRect b="33672" l="16985" r="0" t="9613"/>
          <a:stretch/>
        </p:blipFill>
        <p:spPr>
          <a:xfrm>
            <a:off x="0" y="551125"/>
            <a:ext cx="4850801" cy="2071251"/>
          </a:xfrm>
          <a:prstGeom prst="rect">
            <a:avLst/>
          </a:prstGeom>
          <a:noFill/>
          <a:ln>
            <a:noFill/>
          </a:ln>
        </p:spPr>
      </p:pic>
      <p:pic>
        <p:nvPicPr>
          <p:cNvPr id="225" name="Google Shape;225;p20"/>
          <p:cNvPicPr preferRelativeResize="0"/>
          <p:nvPr/>
        </p:nvPicPr>
        <p:blipFill rotWithShape="1">
          <a:blip r:embed="rId4">
            <a:alphaModFix/>
          </a:blip>
          <a:srcRect b="21626" l="17224" r="24132" t="29634"/>
          <a:stretch/>
        </p:blipFill>
        <p:spPr>
          <a:xfrm>
            <a:off x="4941000" y="551125"/>
            <a:ext cx="3987149" cy="2071251"/>
          </a:xfrm>
          <a:prstGeom prst="rect">
            <a:avLst/>
          </a:prstGeom>
          <a:noFill/>
          <a:ln>
            <a:noFill/>
          </a:ln>
        </p:spPr>
      </p:pic>
      <p:sp>
        <p:nvSpPr>
          <p:cNvPr id="226" name="Google Shape;226;p20"/>
          <p:cNvSpPr/>
          <p:nvPr/>
        </p:nvSpPr>
        <p:spPr>
          <a:xfrm>
            <a:off x="870750" y="1447875"/>
            <a:ext cx="982200" cy="364500"/>
          </a:xfrm>
          <a:prstGeom prst="arc">
            <a:avLst>
              <a:gd fmla="val 9629149" name="adj1"/>
              <a:gd fmla="val 1243609"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0"/>
          <p:cNvSpPr txBox="1"/>
          <p:nvPr/>
        </p:nvSpPr>
        <p:spPr>
          <a:xfrm>
            <a:off x="5403000" y="1618875"/>
            <a:ext cx="2970300" cy="8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Floor plan should be in attachment format not drive link </a:t>
            </a:r>
            <a:endParaRPr b="1"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28" name="Google Shape;228;p20"/>
          <p:cNvSpPr txBox="1"/>
          <p:nvPr/>
        </p:nvSpPr>
        <p:spPr>
          <a:xfrm>
            <a:off x="2573425" y="2622375"/>
            <a:ext cx="2475900" cy="6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Email and ph num are </a:t>
            </a:r>
            <a:r>
              <a:rPr lang="en" sz="800">
                <a:solidFill>
                  <a:schemeClr val="dk2"/>
                </a:solidFill>
              </a:rPr>
              <a:t>accepted</a:t>
            </a:r>
            <a:r>
              <a:rPr lang="en" sz="800">
                <a:solidFill>
                  <a:schemeClr val="dk2"/>
                </a:solidFill>
              </a:rPr>
              <a:t> in any format - should only accept the valid format.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29" name="Google Shape;229;p20"/>
          <p:cNvSpPr txBox="1"/>
          <p:nvPr/>
        </p:nvSpPr>
        <p:spPr>
          <a:xfrm>
            <a:off x="7081225" y="2621625"/>
            <a:ext cx="1960500" cy="15498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 sz="800">
                <a:solidFill>
                  <a:schemeClr val="dk2"/>
                </a:solidFill>
              </a:rPr>
              <a:t>Offer 1 </a:t>
            </a:r>
            <a:endParaRPr sz="800">
              <a:solidFill>
                <a:schemeClr val="dk2"/>
              </a:solidFill>
            </a:endParaRPr>
          </a:p>
          <a:p>
            <a:pPr indent="0" lvl="0" marL="457200" rtl="0" algn="l">
              <a:spcBef>
                <a:spcPts val="0"/>
              </a:spcBef>
              <a:spcAft>
                <a:spcPts val="0"/>
              </a:spcAft>
              <a:buClr>
                <a:schemeClr val="dk1"/>
              </a:buClr>
              <a:buSzPts val="1100"/>
              <a:buFont typeface="Arial"/>
              <a:buNone/>
            </a:pPr>
            <a:r>
              <a:rPr lang="en" sz="800">
                <a:solidFill>
                  <a:schemeClr val="dk2"/>
                </a:solidFill>
              </a:rPr>
              <a:t>Offer 2 </a:t>
            </a:r>
            <a:endParaRPr sz="800">
              <a:solidFill>
                <a:schemeClr val="dk2"/>
              </a:solidFill>
            </a:endParaRPr>
          </a:p>
          <a:p>
            <a:pPr indent="0" lvl="0" marL="457200" rtl="0" algn="l">
              <a:spcBef>
                <a:spcPts val="0"/>
              </a:spcBef>
              <a:spcAft>
                <a:spcPts val="0"/>
              </a:spcAft>
              <a:buClr>
                <a:schemeClr val="dk1"/>
              </a:buClr>
              <a:buSzPts val="1100"/>
              <a:buFont typeface="Arial"/>
              <a:buNone/>
            </a:pPr>
            <a:r>
              <a:rPr lang="en" sz="800">
                <a:solidFill>
                  <a:schemeClr val="dk2"/>
                </a:solidFill>
              </a:rPr>
              <a:t>Offer 3</a:t>
            </a:r>
            <a:endParaRPr sz="800">
              <a:solidFill>
                <a:schemeClr val="dk2"/>
              </a:solidFill>
            </a:endParaRPr>
          </a:p>
          <a:p>
            <a:pPr indent="0" lvl="0" marL="457200" rtl="0" algn="l">
              <a:spcBef>
                <a:spcPts val="0"/>
              </a:spcBef>
              <a:spcAft>
                <a:spcPts val="0"/>
              </a:spcAft>
              <a:buClr>
                <a:schemeClr val="dk1"/>
              </a:buClr>
              <a:buSzPts val="1100"/>
              <a:buFont typeface="Arial"/>
              <a:buNone/>
            </a:pPr>
            <a:r>
              <a:rPr lang="en" sz="800">
                <a:solidFill>
                  <a:schemeClr val="dk2"/>
                </a:solidFill>
              </a:rPr>
              <a:t>N/A</a:t>
            </a:r>
            <a:endParaRPr sz="800">
              <a:solidFill>
                <a:schemeClr val="dk2"/>
              </a:solidFill>
            </a:endParaRPr>
          </a:p>
          <a:p>
            <a:pPr indent="0" lvl="0" marL="457200" rtl="0" algn="l">
              <a:spcBef>
                <a:spcPts val="0"/>
              </a:spcBef>
              <a:spcAft>
                <a:spcPts val="0"/>
              </a:spcAft>
              <a:buClr>
                <a:schemeClr val="dk1"/>
              </a:buClr>
              <a:buSzPts val="1100"/>
              <a:buFont typeface="Arial"/>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230" name="Google Shape;230;p20"/>
          <p:cNvCxnSpPr/>
          <p:nvPr/>
        </p:nvCxnSpPr>
        <p:spPr>
          <a:xfrm>
            <a:off x="7583625" y="1579500"/>
            <a:ext cx="162000" cy="1144200"/>
          </a:xfrm>
          <a:prstGeom prst="straightConnector1">
            <a:avLst/>
          </a:prstGeom>
          <a:noFill/>
          <a:ln cap="flat" cmpd="sng" w="9525">
            <a:solidFill>
              <a:schemeClr val="dk2"/>
            </a:solidFill>
            <a:prstDash val="solid"/>
            <a:round/>
            <a:headEnd len="med" w="med" type="none"/>
            <a:tailEnd len="med" w="med" type="none"/>
          </a:ln>
        </p:spPr>
      </p:cxnSp>
      <p:sp>
        <p:nvSpPr>
          <p:cNvPr id="231" name="Google Shape;231;p20"/>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overview </a:t>
            </a:r>
            <a:endParaRPr b="1" sz="1200">
              <a:solidFill>
                <a:schemeClr val="dk2"/>
              </a:solidFill>
            </a:endParaRPr>
          </a:p>
        </p:txBody>
      </p:sp>
      <p:sp>
        <p:nvSpPr>
          <p:cNvPr id="232" name="Google Shape;232;p20"/>
          <p:cNvSpPr txBox="1"/>
          <p:nvPr/>
        </p:nvSpPr>
        <p:spPr>
          <a:xfrm>
            <a:off x="0" y="4606875"/>
            <a:ext cx="5040300" cy="6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All Key facts except for offer  and floor plan are mandatory to move to the next stage from EL to MQL. </a:t>
            </a:r>
            <a:endParaRPr sz="800">
              <a:solidFill>
                <a:schemeClr val="dk2"/>
              </a:solidFill>
            </a:endParaRPr>
          </a:p>
          <a:p>
            <a:pPr indent="0" lvl="0" marL="0" rtl="0" algn="l">
              <a:spcBef>
                <a:spcPts val="0"/>
              </a:spcBef>
              <a:spcAft>
                <a:spcPts val="0"/>
              </a:spcAft>
              <a:buNone/>
            </a:pPr>
            <a:r>
              <a:rPr lang="en" sz="800">
                <a:solidFill>
                  <a:schemeClr val="dk2"/>
                </a:solidFill>
              </a:rPr>
              <a:t>System has to auto detect the star in all the stages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33" name="Google Shape;233;p20"/>
          <p:cNvSpPr txBox="1"/>
          <p:nvPr/>
        </p:nvSpPr>
        <p:spPr>
          <a:xfrm>
            <a:off x="4979275" y="3912975"/>
            <a:ext cx="2475900" cy="17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EL - Intent rating criteria </a:t>
            </a:r>
            <a:endParaRPr b="1" sz="800">
              <a:solidFill>
                <a:schemeClr val="dk2"/>
              </a:solidFill>
            </a:endParaRPr>
          </a:p>
          <a:p>
            <a:pPr indent="0" lvl="0" marL="0" rtl="0" algn="l">
              <a:spcBef>
                <a:spcPts val="0"/>
              </a:spcBef>
              <a:spcAft>
                <a:spcPts val="0"/>
              </a:spcAft>
              <a:buNone/>
            </a:pPr>
            <a:r>
              <a:rPr lang="en" sz="800">
                <a:solidFill>
                  <a:schemeClr val="dk2"/>
                </a:solidFill>
              </a:rPr>
              <a:t>EC visit - 5 star</a:t>
            </a:r>
            <a:endParaRPr sz="800">
              <a:solidFill>
                <a:schemeClr val="dk2"/>
              </a:solidFill>
            </a:endParaRPr>
          </a:p>
          <a:p>
            <a:pPr indent="0" lvl="0" marL="0" rtl="0" algn="l">
              <a:spcBef>
                <a:spcPts val="0"/>
              </a:spcBef>
              <a:spcAft>
                <a:spcPts val="0"/>
              </a:spcAft>
              <a:buNone/>
            </a:pPr>
            <a:r>
              <a:rPr lang="en" sz="800">
                <a:solidFill>
                  <a:schemeClr val="dk2"/>
                </a:solidFill>
              </a:rPr>
              <a:t>Site visit - 4 star</a:t>
            </a:r>
            <a:endParaRPr sz="800">
              <a:solidFill>
                <a:schemeClr val="dk2"/>
              </a:solidFill>
            </a:endParaRPr>
          </a:p>
          <a:p>
            <a:pPr indent="0" lvl="0" marL="0" rtl="0" algn="l">
              <a:spcBef>
                <a:spcPts val="0"/>
              </a:spcBef>
              <a:spcAft>
                <a:spcPts val="0"/>
              </a:spcAft>
              <a:buNone/>
            </a:pPr>
            <a:r>
              <a:rPr lang="en" sz="800">
                <a:solidFill>
                  <a:schemeClr val="dk2"/>
                </a:solidFill>
              </a:rPr>
              <a:t>Virtual - 3 star</a:t>
            </a:r>
            <a:endParaRPr sz="800">
              <a:solidFill>
                <a:schemeClr val="dk2"/>
              </a:solidFill>
            </a:endParaRPr>
          </a:p>
          <a:p>
            <a:pPr indent="0" lvl="0" marL="0" rtl="0" algn="l">
              <a:spcBef>
                <a:spcPts val="0"/>
              </a:spcBef>
              <a:spcAft>
                <a:spcPts val="0"/>
              </a:spcAft>
              <a:buNone/>
            </a:pPr>
            <a:r>
              <a:rPr lang="en" sz="800">
                <a:solidFill>
                  <a:schemeClr val="dk2"/>
                </a:solidFill>
              </a:rPr>
              <a:t>Call back - 2 star </a:t>
            </a:r>
            <a:endParaRPr sz="800">
              <a:solidFill>
                <a:schemeClr val="dk2"/>
              </a:solidFill>
            </a:endParaRPr>
          </a:p>
          <a:p>
            <a:pPr indent="0" lvl="0" marL="0" rtl="0" algn="l">
              <a:spcBef>
                <a:spcPts val="0"/>
              </a:spcBef>
              <a:spcAft>
                <a:spcPts val="0"/>
              </a:spcAft>
              <a:buNone/>
            </a:pPr>
            <a:r>
              <a:rPr lang="en" sz="800">
                <a:solidFill>
                  <a:schemeClr val="dk2"/>
                </a:solidFill>
              </a:rPr>
              <a:t>No action planned - 1 star - in 1 star project </a:t>
            </a:r>
            <a:r>
              <a:rPr lang="en" sz="800">
                <a:solidFill>
                  <a:schemeClr val="dk2"/>
                </a:solidFill>
              </a:rPr>
              <a:t>can't</a:t>
            </a:r>
            <a:r>
              <a:rPr lang="en" sz="800">
                <a:solidFill>
                  <a:schemeClr val="dk2"/>
                </a:solidFill>
              </a:rPr>
              <a:t> be moved to next stage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34" name="Google Shape;234;p20"/>
          <p:cNvSpPr txBox="1"/>
          <p:nvPr/>
        </p:nvSpPr>
        <p:spPr>
          <a:xfrm>
            <a:off x="42700" y="57750"/>
            <a:ext cx="247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Open calender</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cxnSp>
        <p:nvCxnSpPr>
          <p:cNvPr id="235" name="Google Shape;235;p20"/>
          <p:cNvCxnSpPr/>
          <p:nvPr/>
        </p:nvCxnSpPr>
        <p:spPr>
          <a:xfrm rot="10800000">
            <a:off x="354375" y="485850"/>
            <a:ext cx="0" cy="1761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overview </a:t>
            </a:r>
            <a:endParaRPr b="1" sz="1200">
              <a:solidFill>
                <a:schemeClr val="dk2"/>
              </a:solidFill>
            </a:endParaRPr>
          </a:p>
        </p:txBody>
      </p:sp>
      <p:sp>
        <p:nvSpPr>
          <p:cNvPr id="241" name="Google Shape;241;p21"/>
          <p:cNvSpPr txBox="1"/>
          <p:nvPr/>
        </p:nvSpPr>
        <p:spPr>
          <a:xfrm>
            <a:off x="42700" y="57750"/>
            <a:ext cx="247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Open calender</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pic>
        <p:nvPicPr>
          <p:cNvPr id="242" name="Google Shape;242;p21"/>
          <p:cNvPicPr preferRelativeResize="0"/>
          <p:nvPr/>
        </p:nvPicPr>
        <p:blipFill rotWithShape="1">
          <a:blip r:embed="rId3">
            <a:alphaModFix/>
          </a:blip>
          <a:srcRect b="5374" l="0" r="0" t="9592"/>
          <a:stretch/>
        </p:blipFill>
        <p:spPr>
          <a:xfrm>
            <a:off x="42700" y="607350"/>
            <a:ext cx="6915876" cy="3675376"/>
          </a:xfrm>
          <a:prstGeom prst="rect">
            <a:avLst/>
          </a:prstGeom>
          <a:noFill/>
          <a:ln>
            <a:noFill/>
          </a:ln>
        </p:spPr>
      </p:pic>
      <p:sp>
        <p:nvSpPr>
          <p:cNvPr id="243" name="Google Shape;243;p21"/>
          <p:cNvSpPr txBox="1"/>
          <p:nvPr/>
        </p:nvSpPr>
        <p:spPr>
          <a:xfrm>
            <a:off x="7036875" y="1236400"/>
            <a:ext cx="2055300" cy="12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Project edit should have all the data from the key facts - in current format offer is missing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44" name="Google Shape;244;p21"/>
          <p:cNvSpPr/>
          <p:nvPr/>
        </p:nvSpPr>
        <p:spPr>
          <a:xfrm>
            <a:off x="2409750" y="3138750"/>
            <a:ext cx="21624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45" name="Google Shape;245;p21"/>
          <p:cNvCxnSpPr/>
          <p:nvPr/>
        </p:nvCxnSpPr>
        <p:spPr>
          <a:xfrm>
            <a:off x="4191750" y="3402000"/>
            <a:ext cx="3047700" cy="10200"/>
          </a:xfrm>
          <a:prstGeom prst="straightConnector1">
            <a:avLst/>
          </a:prstGeom>
          <a:noFill/>
          <a:ln cap="flat" cmpd="sng" w="9525">
            <a:solidFill>
              <a:schemeClr val="dk2"/>
            </a:solidFill>
            <a:prstDash val="solid"/>
            <a:round/>
            <a:headEnd len="med" w="med" type="none"/>
            <a:tailEnd len="med" w="med" type="none"/>
          </a:ln>
        </p:spPr>
      </p:cxnSp>
      <p:sp>
        <p:nvSpPr>
          <p:cNvPr id="246" name="Google Shape;246;p21"/>
          <p:cNvSpPr txBox="1"/>
          <p:nvPr/>
        </p:nvSpPr>
        <p:spPr>
          <a:xfrm>
            <a:off x="7239450" y="3199500"/>
            <a:ext cx="1852800" cy="12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To be removed.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2"/>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a:t>
            </a:r>
            <a:endParaRPr b="1" sz="1200">
              <a:solidFill>
                <a:schemeClr val="dk2"/>
              </a:solidFill>
            </a:endParaRPr>
          </a:p>
        </p:txBody>
      </p:sp>
      <p:pic>
        <p:nvPicPr>
          <p:cNvPr id="252" name="Google Shape;252;p22"/>
          <p:cNvPicPr preferRelativeResize="0"/>
          <p:nvPr/>
        </p:nvPicPr>
        <p:blipFill rotWithShape="1">
          <a:blip r:embed="rId3">
            <a:alphaModFix/>
          </a:blip>
          <a:srcRect b="5842" l="0" r="0" t="9124"/>
          <a:stretch/>
        </p:blipFill>
        <p:spPr>
          <a:xfrm>
            <a:off x="0" y="415125"/>
            <a:ext cx="6915876" cy="3675376"/>
          </a:xfrm>
          <a:prstGeom prst="rect">
            <a:avLst/>
          </a:prstGeom>
          <a:noFill/>
          <a:ln>
            <a:noFill/>
          </a:ln>
        </p:spPr>
      </p:pic>
      <p:sp>
        <p:nvSpPr>
          <p:cNvPr id="253" name="Google Shape;253;p22"/>
          <p:cNvSpPr/>
          <p:nvPr/>
        </p:nvSpPr>
        <p:spPr>
          <a:xfrm>
            <a:off x="4414500" y="1306125"/>
            <a:ext cx="587400" cy="192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54" name="Google Shape;254;p22"/>
          <p:cNvCxnSpPr>
            <a:stCxn id="253" idx="3"/>
          </p:cNvCxnSpPr>
          <p:nvPr/>
        </p:nvCxnSpPr>
        <p:spPr>
          <a:xfrm flipH="1" rot="10800000">
            <a:off x="5001900" y="1377075"/>
            <a:ext cx="2176800" cy="25200"/>
          </a:xfrm>
          <a:prstGeom prst="straightConnector1">
            <a:avLst/>
          </a:prstGeom>
          <a:noFill/>
          <a:ln cap="flat" cmpd="sng" w="9525">
            <a:solidFill>
              <a:schemeClr val="dk2"/>
            </a:solidFill>
            <a:prstDash val="solid"/>
            <a:round/>
            <a:headEnd len="med" w="med" type="none"/>
            <a:tailEnd len="med" w="med" type="none"/>
          </a:ln>
        </p:spPr>
      </p:cxnSp>
      <p:sp>
        <p:nvSpPr>
          <p:cNvPr id="255" name="Google Shape;255;p22"/>
          <p:cNvSpPr txBox="1"/>
          <p:nvPr/>
        </p:nvSpPr>
        <p:spPr>
          <a:xfrm>
            <a:off x="7178700" y="1063125"/>
            <a:ext cx="1852800" cy="124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To Add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client details </a:t>
            </a:r>
            <a:endParaRPr b="1" sz="800">
              <a:solidFill>
                <a:schemeClr val="dk2"/>
              </a:solidFill>
            </a:endParaRPr>
          </a:p>
          <a:p>
            <a:pPr indent="0" lvl="0" marL="0" rtl="0" algn="l">
              <a:spcBef>
                <a:spcPts val="0"/>
              </a:spcBef>
              <a:spcAft>
                <a:spcPts val="0"/>
              </a:spcAft>
              <a:buNone/>
            </a:pPr>
            <a:r>
              <a:t/>
            </a:r>
            <a:endParaRPr b="1" sz="800">
              <a:solidFill>
                <a:schemeClr val="dk2"/>
              </a:solidFill>
            </a:endParaRPr>
          </a:p>
          <a:p>
            <a:pPr indent="0" lvl="0" marL="0" rtl="0" algn="l">
              <a:spcBef>
                <a:spcPts val="0"/>
              </a:spcBef>
              <a:spcAft>
                <a:spcPts val="0"/>
              </a:spcAft>
              <a:buNone/>
            </a:pPr>
            <a:r>
              <a:rPr lang="en" sz="800">
                <a:solidFill>
                  <a:schemeClr val="dk2"/>
                </a:solidFill>
              </a:rPr>
              <a:t>Contact number </a:t>
            </a:r>
            <a:endParaRPr sz="800">
              <a:solidFill>
                <a:schemeClr val="dk2"/>
              </a:solidFill>
            </a:endParaRPr>
          </a:p>
          <a:p>
            <a:pPr indent="0" lvl="0" marL="0" rtl="0" algn="l">
              <a:spcBef>
                <a:spcPts val="0"/>
              </a:spcBef>
              <a:spcAft>
                <a:spcPts val="0"/>
              </a:spcAft>
              <a:buNone/>
            </a:pPr>
            <a:r>
              <a:rPr lang="en" sz="800">
                <a:solidFill>
                  <a:schemeClr val="dk2"/>
                </a:solidFill>
              </a:rPr>
              <a:t>Alternate number</a:t>
            </a:r>
            <a:endParaRPr sz="800">
              <a:solidFill>
                <a:schemeClr val="dk2"/>
              </a:solidFill>
            </a:endParaRPr>
          </a:p>
          <a:p>
            <a:pPr indent="0" lvl="0" marL="0" rtl="0" algn="l">
              <a:spcBef>
                <a:spcPts val="0"/>
              </a:spcBef>
              <a:spcAft>
                <a:spcPts val="0"/>
              </a:spcAft>
              <a:buNone/>
            </a:pPr>
            <a:r>
              <a:rPr lang="en" sz="800">
                <a:solidFill>
                  <a:schemeClr val="dk2"/>
                </a:solidFill>
              </a:rPr>
              <a:t>Mail id</a:t>
            </a:r>
            <a:endParaRPr sz="800">
              <a:solidFill>
                <a:schemeClr val="dk2"/>
              </a:solidFill>
            </a:endParaRPr>
          </a:p>
          <a:p>
            <a:pPr indent="0" lvl="0" marL="0" rtl="0" algn="l">
              <a:spcBef>
                <a:spcPts val="0"/>
              </a:spcBef>
              <a:spcAft>
                <a:spcPts val="0"/>
              </a:spcAft>
              <a:buNone/>
            </a:pPr>
            <a:r>
              <a:rPr lang="en" sz="800">
                <a:solidFill>
                  <a:schemeClr val="dk2"/>
                </a:solidFill>
              </a:rPr>
              <a:t>Alternate mail id</a:t>
            </a:r>
            <a:endParaRPr sz="800">
              <a:solidFill>
                <a:schemeClr val="dk2"/>
              </a:solidFill>
            </a:endParaRPr>
          </a:p>
          <a:p>
            <a:pPr indent="0" lvl="0" marL="0" rtl="0" algn="l">
              <a:spcBef>
                <a:spcPts val="0"/>
              </a:spcBef>
              <a:spcAft>
                <a:spcPts val="0"/>
              </a:spcAft>
              <a:buNone/>
            </a:pPr>
            <a:r>
              <a:rPr lang="en" sz="800">
                <a:solidFill>
                  <a:schemeClr val="dk2"/>
                </a:solidFill>
              </a:rPr>
              <a:t>PAN details </a:t>
            </a:r>
            <a:endParaRPr sz="800">
              <a:solidFill>
                <a:schemeClr val="dk2"/>
              </a:solidFill>
            </a:endParaRPr>
          </a:p>
          <a:p>
            <a:pPr indent="0" lvl="0" marL="0" rtl="0" algn="l">
              <a:spcBef>
                <a:spcPts val="0"/>
              </a:spcBef>
              <a:spcAft>
                <a:spcPts val="0"/>
              </a:spcAft>
              <a:buNone/>
            </a:pPr>
            <a:r>
              <a:rPr lang="en" sz="800">
                <a:solidFill>
                  <a:schemeClr val="dk2"/>
                </a:solidFill>
              </a:rPr>
              <a:t>GST Details.</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nvSpPr>
        <p:spPr>
          <a:xfrm>
            <a:off x="2734050" y="88175"/>
            <a:ext cx="2885400" cy="32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over view</a:t>
            </a:r>
            <a:endParaRPr b="1" sz="1200">
              <a:solidFill>
                <a:schemeClr val="dk2"/>
              </a:solidFill>
            </a:endParaRPr>
          </a:p>
        </p:txBody>
      </p:sp>
      <p:sp>
        <p:nvSpPr>
          <p:cNvPr id="261" name="Google Shape;261;p23"/>
          <p:cNvSpPr txBox="1"/>
          <p:nvPr/>
        </p:nvSpPr>
        <p:spPr>
          <a:xfrm>
            <a:off x="6399000" y="1437900"/>
            <a:ext cx="982200" cy="11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2"/>
              </a:solidFill>
            </a:endParaRPr>
          </a:p>
        </p:txBody>
      </p:sp>
      <p:pic>
        <p:nvPicPr>
          <p:cNvPr id="262" name="Google Shape;262;p23"/>
          <p:cNvPicPr preferRelativeResize="0"/>
          <p:nvPr/>
        </p:nvPicPr>
        <p:blipFill rotWithShape="1">
          <a:blip r:embed="rId3">
            <a:alphaModFix/>
          </a:blip>
          <a:srcRect b="6671" l="0" r="0" t="23325"/>
          <a:stretch/>
        </p:blipFill>
        <p:spPr>
          <a:xfrm>
            <a:off x="142350" y="413925"/>
            <a:ext cx="8089277" cy="3539398"/>
          </a:xfrm>
          <a:prstGeom prst="rect">
            <a:avLst/>
          </a:prstGeom>
          <a:noFill/>
          <a:ln>
            <a:noFill/>
          </a:ln>
        </p:spPr>
      </p:pic>
      <p:sp>
        <p:nvSpPr>
          <p:cNvPr id="263" name="Google Shape;263;p23"/>
          <p:cNvSpPr/>
          <p:nvPr/>
        </p:nvSpPr>
        <p:spPr>
          <a:xfrm>
            <a:off x="1549125" y="3331125"/>
            <a:ext cx="688500" cy="232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4" name="Google Shape;264;p23"/>
          <p:cNvCxnSpPr>
            <a:stCxn id="263" idx="4"/>
          </p:cNvCxnSpPr>
          <p:nvPr/>
        </p:nvCxnSpPr>
        <p:spPr>
          <a:xfrm>
            <a:off x="1893375" y="3563925"/>
            <a:ext cx="0" cy="546900"/>
          </a:xfrm>
          <a:prstGeom prst="straightConnector1">
            <a:avLst/>
          </a:prstGeom>
          <a:noFill/>
          <a:ln cap="flat" cmpd="sng" w="9525">
            <a:solidFill>
              <a:schemeClr val="dk2"/>
            </a:solidFill>
            <a:prstDash val="solid"/>
            <a:round/>
            <a:headEnd len="med" w="med" type="none"/>
            <a:tailEnd len="med" w="med" type="none"/>
          </a:ln>
        </p:spPr>
      </p:cxnSp>
      <p:sp>
        <p:nvSpPr>
          <p:cNvPr id="265" name="Google Shape;265;p23"/>
          <p:cNvSpPr txBox="1"/>
          <p:nvPr/>
        </p:nvSpPr>
        <p:spPr>
          <a:xfrm>
            <a:off x="923050" y="4111375"/>
            <a:ext cx="2475900" cy="6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Recent activity to be removed from the overview.</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66" name="Google Shape;266;p23"/>
          <p:cNvSpPr/>
          <p:nvPr/>
        </p:nvSpPr>
        <p:spPr>
          <a:xfrm>
            <a:off x="6318000" y="617625"/>
            <a:ext cx="1721100" cy="94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67" name="Google Shape;267;p23"/>
          <p:cNvCxnSpPr/>
          <p:nvPr/>
        </p:nvCxnSpPr>
        <p:spPr>
          <a:xfrm flipH="1" rot="10800000">
            <a:off x="7806375" y="1144050"/>
            <a:ext cx="759300" cy="102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23"/>
          <p:cNvSpPr txBox="1"/>
          <p:nvPr/>
        </p:nvSpPr>
        <p:spPr>
          <a:xfrm>
            <a:off x="8261850" y="1236400"/>
            <a:ext cx="830400" cy="6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Remove </a:t>
            </a:r>
            <a:endParaRPr sz="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4"/>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a:t>
            </a:r>
            <a:r>
              <a:rPr b="1" lang="en" sz="1200">
                <a:solidFill>
                  <a:schemeClr val="dk2"/>
                </a:solidFill>
              </a:rPr>
              <a:t>overview</a:t>
            </a:r>
            <a:r>
              <a:rPr b="1" lang="en" sz="1200">
                <a:solidFill>
                  <a:schemeClr val="dk2"/>
                </a:solidFill>
              </a:rPr>
              <a:t> </a:t>
            </a:r>
            <a:endParaRPr b="1" sz="1200">
              <a:solidFill>
                <a:schemeClr val="dk2"/>
              </a:solidFill>
            </a:endParaRPr>
          </a:p>
        </p:txBody>
      </p:sp>
      <p:sp>
        <p:nvSpPr>
          <p:cNvPr id="274" name="Google Shape;274;p24"/>
          <p:cNvSpPr txBox="1"/>
          <p:nvPr/>
        </p:nvSpPr>
        <p:spPr>
          <a:xfrm>
            <a:off x="6399000" y="1437900"/>
            <a:ext cx="982200" cy="111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2"/>
              </a:solidFill>
            </a:endParaRPr>
          </a:p>
        </p:txBody>
      </p:sp>
      <p:sp>
        <p:nvSpPr>
          <p:cNvPr id="275" name="Google Shape;275;p24"/>
          <p:cNvSpPr txBox="1"/>
          <p:nvPr/>
        </p:nvSpPr>
        <p:spPr>
          <a:xfrm>
            <a:off x="4981350" y="639025"/>
            <a:ext cx="2916300" cy="24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Order to be followed</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Stage road map ( to be added) </a:t>
            </a:r>
            <a:r>
              <a:rPr lang="en" sz="800">
                <a:solidFill>
                  <a:schemeClr val="dk2"/>
                </a:solidFill>
              </a:rPr>
              <a:t>(total num of days projects was active , lead allocation date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457200" rtl="0" algn="l">
              <a:spcBef>
                <a:spcPts val="0"/>
              </a:spcBef>
              <a:spcAft>
                <a:spcPts val="0"/>
              </a:spcAft>
              <a:buNone/>
            </a:pPr>
            <a:r>
              <a:rPr lang="en" sz="800">
                <a:solidFill>
                  <a:schemeClr val="dk2"/>
                </a:solidFill>
              </a:rPr>
              <a:t>MQL (date of stage movement)     ( i)</a:t>
            </a:r>
            <a:endParaRPr sz="800">
              <a:solidFill>
                <a:schemeClr val="dk2"/>
              </a:solidFill>
            </a:endParaRPr>
          </a:p>
          <a:p>
            <a:pPr indent="0" lvl="0" marL="457200" rtl="0" algn="l">
              <a:spcBef>
                <a:spcPts val="0"/>
              </a:spcBef>
              <a:spcAft>
                <a:spcPts val="0"/>
              </a:spcAft>
              <a:buNone/>
            </a:pPr>
            <a:r>
              <a:rPr b="1" lang="en" sz="800">
                <a:solidFill>
                  <a:schemeClr val="dk2"/>
                </a:solidFill>
              </a:rPr>
              <a:t>| </a:t>
            </a:r>
            <a:r>
              <a:rPr lang="en" sz="800">
                <a:solidFill>
                  <a:schemeClr val="dk2"/>
                </a:solidFill>
              </a:rPr>
              <a:t>TAT </a:t>
            </a:r>
            <a:endParaRPr sz="800">
              <a:solidFill>
                <a:schemeClr val="dk2"/>
              </a:solidFill>
            </a:endParaRPr>
          </a:p>
          <a:p>
            <a:pPr indent="0" lvl="0" marL="457200" rtl="0" algn="l">
              <a:spcBef>
                <a:spcPts val="0"/>
              </a:spcBef>
              <a:spcAft>
                <a:spcPts val="0"/>
              </a:spcAft>
              <a:buNone/>
            </a:pPr>
            <a:r>
              <a:rPr b="1" lang="en" sz="800">
                <a:solidFill>
                  <a:schemeClr val="dk2"/>
                </a:solidFill>
              </a:rPr>
              <a:t>DQL </a:t>
            </a:r>
            <a:r>
              <a:rPr lang="en" sz="800">
                <a:solidFill>
                  <a:schemeClr val="dk2"/>
                </a:solidFill>
              </a:rPr>
              <a:t>(date of stage movement)</a:t>
            </a:r>
            <a:endParaRPr b="1" sz="800">
              <a:solidFill>
                <a:schemeClr val="dk2"/>
              </a:solidFill>
            </a:endParaRPr>
          </a:p>
          <a:p>
            <a:pPr indent="0" lvl="0" marL="457200" rtl="0" algn="l">
              <a:spcBef>
                <a:spcPts val="0"/>
              </a:spcBef>
              <a:spcAft>
                <a:spcPts val="0"/>
              </a:spcAft>
              <a:buNone/>
            </a:pPr>
            <a:r>
              <a:rPr lang="en" sz="800">
                <a:solidFill>
                  <a:schemeClr val="dk2"/>
                </a:solidFill>
              </a:rPr>
              <a:t>| TAT </a:t>
            </a:r>
            <a:endParaRPr sz="800">
              <a:solidFill>
                <a:schemeClr val="dk2"/>
              </a:solidFill>
            </a:endParaRPr>
          </a:p>
          <a:p>
            <a:pPr indent="0" lvl="0" marL="457200" rtl="0" algn="l">
              <a:spcBef>
                <a:spcPts val="0"/>
              </a:spcBef>
              <a:spcAft>
                <a:spcPts val="0"/>
              </a:spcAft>
              <a:buNone/>
            </a:pPr>
            <a:r>
              <a:rPr lang="en" sz="800">
                <a:solidFill>
                  <a:schemeClr val="dk2"/>
                </a:solidFill>
              </a:rPr>
              <a:t>PR </a:t>
            </a:r>
            <a:r>
              <a:rPr lang="en" sz="800">
                <a:solidFill>
                  <a:schemeClr val="dk2"/>
                </a:solidFill>
              </a:rPr>
              <a:t>(date of stage movement)</a:t>
            </a:r>
            <a:endParaRPr sz="800">
              <a:solidFill>
                <a:schemeClr val="dk2"/>
              </a:solidFill>
            </a:endParaRPr>
          </a:p>
          <a:p>
            <a:pPr indent="0" lvl="0" marL="457200" rtl="0" algn="l">
              <a:spcBef>
                <a:spcPts val="0"/>
              </a:spcBef>
              <a:spcAft>
                <a:spcPts val="0"/>
              </a:spcAft>
              <a:buNone/>
            </a:pPr>
            <a:r>
              <a:rPr lang="en" sz="800">
                <a:solidFill>
                  <a:schemeClr val="dk2"/>
                </a:solidFill>
              </a:rPr>
              <a:t>| TAT </a:t>
            </a:r>
            <a:endParaRPr sz="800">
              <a:solidFill>
                <a:schemeClr val="dk2"/>
              </a:solidFill>
            </a:endParaRPr>
          </a:p>
          <a:p>
            <a:pPr indent="0" lvl="0" marL="457200" rtl="0" algn="l">
              <a:spcBef>
                <a:spcPts val="0"/>
              </a:spcBef>
              <a:spcAft>
                <a:spcPts val="0"/>
              </a:spcAft>
              <a:buNone/>
            </a:pPr>
            <a:r>
              <a:rPr lang="en" sz="800">
                <a:solidFill>
                  <a:schemeClr val="dk2"/>
                </a:solidFill>
              </a:rPr>
              <a:t>PP </a:t>
            </a:r>
            <a:r>
              <a:rPr lang="en" sz="800">
                <a:solidFill>
                  <a:schemeClr val="dk2"/>
                </a:solidFill>
              </a:rPr>
              <a:t>(date of stage movement)</a:t>
            </a:r>
            <a:endParaRPr sz="800">
              <a:solidFill>
                <a:schemeClr val="dk2"/>
              </a:solidFill>
            </a:endParaRPr>
          </a:p>
          <a:p>
            <a:pPr indent="0" lvl="0" marL="457200" rtl="0" algn="l">
              <a:spcBef>
                <a:spcPts val="0"/>
              </a:spcBef>
              <a:spcAft>
                <a:spcPts val="0"/>
              </a:spcAft>
              <a:buNone/>
            </a:pPr>
            <a:r>
              <a:rPr lang="en" sz="800">
                <a:solidFill>
                  <a:schemeClr val="dk2"/>
                </a:solidFill>
              </a:rPr>
              <a:t>| TAT </a:t>
            </a:r>
            <a:endParaRPr sz="800">
              <a:solidFill>
                <a:schemeClr val="dk2"/>
              </a:solidFill>
            </a:endParaRPr>
          </a:p>
          <a:p>
            <a:pPr indent="0" lvl="0" marL="457200" rtl="0" algn="l">
              <a:spcBef>
                <a:spcPts val="0"/>
              </a:spcBef>
              <a:spcAft>
                <a:spcPts val="0"/>
              </a:spcAft>
              <a:buNone/>
            </a:pPr>
            <a:r>
              <a:rPr lang="en" sz="800">
                <a:solidFill>
                  <a:schemeClr val="dk2"/>
                </a:solidFill>
              </a:rPr>
              <a:t>OB </a:t>
            </a:r>
            <a:r>
              <a:rPr lang="en" sz="800">
                <a:solidFill>
                  <a:schemeClr val="dk2"/>
                </a:solidFill>
              </a:rPr>
              <a:t>(date of stage movement)</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457200" rtl="0" algn="l">
              <a:spcBef>
                <a:spcPts val="0"/>
              </a:spcBef>
              <a:spcAft>
                <a:spcPts val="0"/>
              </a:spcAft>
              <a:buNone/>
            </a:pPr>
            <a:r>
              <a:rPr lang="en" sz="800">
                <a:solidFill>
                  <a:schemeClr val="dk2"/>
                </a:solidFill>
              </a:rPr>
              <a:t>Highlight the stage the project is in and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Follow up ( it should show details like -  upcoming follow up - date - time - task name (green clr) , p</a:t>
            </a:r>
            <a:r>
              <a:rPr lang="en" sz="800">
                <a:solidFill>
                  <a:schemeClr val="dk2"/>
                </a:solidFill>
              </a:rPr>
              <a:t>ending </a:t>
            </a:r>
            <a:r>
              <a:rPr lang="en" sz="800">
                <a:solidFill>
                  <a:schemeClr val="dk2"/>
                </a:solidFill>
              </a:rPr>
              <a:t>follow up </a:t>
            </a:r>
            <a:r>
              <a:rPr lang="en" sz="800">
                <a:solidFill>
                  <a:schemeClr val="dk2"/>
                </a:solidFill>
              </a:rPr>
              <a:t>- date - time - task name (red clr) rescheduled follow up - - date - time - task name  yellow clr )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Latest quote - attachment or link to open the attachment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Project details</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Source </a:t>
            </a:r>
            <a:endParaRPr sz="800">
              <a:solidFill>
                <a:schemeClr val="dk2"/>
              </a:solidFill>
            </a:endParaRPr>
          </a:p>
          <a:p>
            <a:pPr indent="0" lvl="0" marL="457200" rtl="0" algn="l">
              <a:spcBef>
                <a:spcPts val="0"/>
              </a:spcBef>
              <a:spcAft>
                <a:spcPts val="0"/>
              </a:spcAft>
              <a:buNone/>
            </a:pPr>
            <a:r>
              <a:t/>
            </a:r>
            <a:endParaRPr sz="800">
              <a:solidFill>
                <a:schemeClr val="dk2"/>
              </a:solidFill>
            </a:endParaRPr>
          </a:p>
        </p:txBody>
      </p:sp>
      <p:pic>
        <p:nvPicPr>
          <p:cNvPr id="276" name="Google Shape;276;p24"/>
          <p:cNvPicPr preferRelativeResize="0"/>
          <p:nvPr/>
        </p:nvPicPr>
        <p:blipFill rotWithShape="1">
          <a:blip r:embed="rId3">
            <a:alphaModFix/>
          </a:blip>
          <a:srcRect b="5189" l="75751" r="1986" t="28621"/>
          <a:stretch/>
        </p:blipFill>
        <p:spPr>
          <a:xfrm>
            <a:off x="162000" y="573350"/>
            <a:ext cx="2236401" cy="4155731"/>
          </a:xfrm>
          <a:prstGeom prst="rect">
            <a:avLst/>
          </a:prstGeom>
          <a:noFill/>
          <a:ln>
            <a:noFill/>
          </a:ln>
        </p:spPr>
      </p:pic>
      <p:pic>
        <p:nvPicPr>
          <p:cNvPr id="277" name="Google Shape;277;p24"/>
          <p:cNvPicPr preferRelativeResize="0"/>
          <p:nvPr/>
        </p:nvPicPr>
        <p:blipFill rotWithShape="1">
          <a:blip r:embed="rId4">
            <a:alphaModFix/>
          </a:blip>
          <a:srcRect b="5359" l="75006" r="2402" t="25851"/>
          <a:stretch/>
        </p:blipFill>
        <p:spPr>
          <a:xfrm>
            <a:off x="2481849" y="573350"/>
            <a:ext cx="2236401" cy="4255699"/>
          </a:xfrm>
          <a:prstGeom prst="rect">
            <a:avLst/>
          </a:prstGeom>
          <a:noFill/>
          <a:ln>
            <a:noFill/>
          </a:ln>
        </p:spPr>
      </p:pic>
      <p:cxnSp>
        <p:nvCxnSpPr>
          <p:cNvPr id="278" name="Google Shape;278;p24"/>
          <p:cNvCxnSpPr/>
          <p:nvPr/>
        </p:nvCxnSpPr>
        <p:spPr>
          <a:xfrm flipH="1" rot="10800000">
            <a:off x="5639625" y="2055450"/>
            <a:ext cx="2014800" cy="70800"/>
          </a:xfrm>
          <a:prstGeom prst="straightConnector1">
            <a:avLst/>
          </a:prstGeom>
          <a:noFill/>
          <a:ln cap="flat" cmpd="sng" w="9525">
            <a:solidFill>
              <a:schemeClr val="dk2"/>
            </a:solidFill>
            <a:prstDash val="solid"/>
            <a:round/>
            <a:headEnd len="med" w="med" type="none"/>
            <a:tailEnd len="med" w="med" type="none"/>
          </a:ln>
        </p:spPr>
      </p:cxnSp>
      <p:sp>
        <p:nvSpPr>
          <p:cNvPr id="279" name="Google Shape;279;p24"/>
          <p:cNvSpPr txBox="1"/>
          <p:nvPr/>
        </p:nvSpPr>
        <p:spPr>
          <a:xfrm>
            <a:off x="7745475" y="1787100"/>
            <a:ext cx="13986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When clicked on the stage - tab to be </a:t>
            </a:r>
            <a:r>
              <a:rPr lang="en" sz="800">
                <a:solidFill>
                  <a:schemeClr val="dk2"/>
                </a:solidFill>
              </a:rPr>
              <a:t>opened</a:t>
            </a:r>
            <a:r>
              <a:rPr lang="en" sz="800">
                <a:solidFill>
                  <a:schemeClr val="dk2"/>
                </a:solidFill>
              </a:rPr>
              <a:t> and ask for update stage - like the one on top left corner.</a:t>
            </a:r>
            <a:endParaRPr sz="800">
              <a:solidFill>
                <a:schemeClr val="dk2"/>
              </a:solidFill>
            </a:endParaRPr>
          </a:p>
        </p:txBody>
      </p:sp>
      <p:cxnSp>
        <p:nvCxnSpPr>
          <p:cNvPr id="280" name="Google Shape;280;p24"/>
          <p:cNvCxnSpPr/>
          <p:nvPr/>
        </p:nvCxnSpPr>
        <p:spPr>
          <a:xfrm flipH="1" rot="10800000">
            <a:off x="7176375" y="1122225"/>
            <a:ext cx="991800" cy="2739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281" name="Google Shape;281;p24"/>
          <p:cNvSpPr txBox="1"/>
          <p:nvPr/>
        </p:nvSpPr>
        <p:spPr>
          <a:xfrm>
            <a:off x="7745475" y="811125"/>
            <a:ext cx="13986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When you click i stage movement req to be </a:t>
            </a:r>
            <a:r>
              <a:rPr lang="en" sz="800">
                <a:solidFill>
                  <a:schemeClr val="dk2"/>
                </a:solidFill>
              </a:rPr>
              <a:t>displace</a:t>
            </a:r>
            <a:r>
              <a:rPr lang="en" sz="800">
                <a:solidFill>
                  <a:schemeClr val="dk2"/>
                </a:solidFill>
              </a:rPr>
              <a:t> </a:t>
            </a:r>
            <a:endParaRPr sz="800">
              <a:solidFill>
                <a:schemeClr val="dk2"/>
              </a:solidFill>
            </a:endParaRPr>
          </a:p>
        </p:txBody>
      </p:sp>
      <p:cxnSp>
        <p:nvCxnSpPr>
          <p:cNvPr id="282" name="Google Shape;282;p24"/>
          <p:cNvCxnSpPr/>
          <p:nvPr/>
        </p:nvCxnSpPr>
        <p:spPr>
          <a:xfrm flipH="1" rot="-5400000">
            <a:off x="5395325" y="1937600"/>
            <a:ext cx="2348700" cy="15267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283" name="Google Shape;283;p24"/>
          <p:cNvSpPr txBox="1"/>
          <p:nvPr/>
        </p:nvSpPr>
        <p:spPr>
          <a:xfrm>
            <a:off x="6034650" y="4005775"/>
            <a:ext cx="2861400" cy="89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If tat is deviated - mark in red </a:t>
            </a:r>
            <a:endParaRPr sz="800">
              <a:solidFill>
                <a:schemeClr val="dk2"/>
              </a:solidFill>
            </a:endParaRPr>
          </a:p>
          <a:p>
            <a:pPr indent="0" lvl="0" marL="0" rtl="0" algn="l">
              <a:spcBef>
                <a:spcPts val="0"/>
              </a:spcBef>
              <a:spcAft>
                <a:spcPts val="0"/>
              </a:spcAft>
              <a:buNone/>
            </a:pPr>
            <a:r>
              <a:rPr lang="en" sz="800">
                <a:solidFill>
                  <a:schemeClr val="dk2"/>
                </a:solidFill>
              </a:rPr>
              <a:t>On time green </a:t>
            </a:r>
            <a:endParaRPr sz="800">
              <a:solidFill>
                <a:schemeClr val="dk2"/>
              </a:solidFill>
            </a:endParaRPr>
          </a:p>
          <a:p>
            <a:pPr indent="0" lvl="0" marL="0" rtl="0" algn="l">
              <a:spcBef>
                <a:spcPts val="0"/>
              </a:spcBef>
              <a:spcAft>
                <a:spcPts val="0"/>
              </a:spcAft>
              <a:buNone/>
            </a:pPr>
            <a:r>
              <a:rPr lang="en" sz="800">
                <a:solidFill>
                  <a:schemeClr val="dk2"/>
                </a:solidFill>
              </a:rPr>
              <a:t>Early - purple </a:t>
            </a:r>
            <a:endParaRPr sz="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5"/>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Activity</a:t>
            </a:r>
            <a:endParaRPr b="1" sz="1200">
              <a:solidFill>
                <a:schemeClr val="dk2"/>
              </a:solidFill>
            </a:endParaRPr>
          </a:p>
        </p:txBody>
      </p:sp>
      <p:pic>
        <p:nvPicPr>
          <p:cNvPr id="289" name="Google Shape;289;p25"/>
          <p:cNvPicPr preferRelativeResize="0"/>
          <p:nvPr/>
        </p:nvPicPr>
        <p:blipFill rotWithShape="1">
          <a:blip r:embed="rId3">
            <a:alphaModFix/>
          </a:blip>
          <a:srcRect b="33720" l="15217" r="23001" t="9358"/>
          <a:stretch/>
        </p:blipFill>
        <p:spPr>
          <a:xfrm>
            <a:off x="101250" y="445500"/>
            <a:ext cx="4272748" cy="2460374"/>
          </a:xfrm>
          <a:prstGeom prst="rect">
            <a:avLst/>
          </a:prstGeom>
          <a:noFill/>
          <a:ln>
            <a:noFill/>
          </a:ln>
        </p:spPr>
      </p:pic>
      <p:sp>
        <p:nvSpPr>
          <p:cNvPr id="290" name="Google Shape;290;p25"/>
          <p:cNvSpPr txBox="1"/>
          <p:nvPr/>
        </p:nvSpPr>
        <p:spPr>
          <a:xfrm>
            <a:off x="4981350" y="639025"/>
            <a:ext cx="2916300" cy="24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Order to be followed</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Calls - Phn symbol </a:t>
            </a:r>
            <a:endParaRPr sz="800">
              <a:solidFill>
                <a:schemeClr val="dk2"/>
              </a:solidFill>
            </a:endParaRPr>
          </a:p>
          <a:p>
            <a:pPr indent="0" lvl="0" marL="0" rtl="0" algn="l">
              <a:spcBef>
                <a:spcPts val="0"/>
              </a:spcBef>
              <a:spcAft>
                <a:spcPts val="0"/>
              </a:spcAft>
              <a:buNone/>
            </a:pPr>
            <a:r>
              <a:rPr lang="en" sz="800">
                <a:solidFill>
                  <a:schemeClr val="dk2"/>
                </a:solidFill>
              </a:rPr>
              <a:t>Meeting </a:t>
            </a:r>
            <a:r>
              <a:rPr lang="en" sz="800">
                <a:solidFill>
                  <a:schemeClr val="dk2"/>
                </a:solidFill>
              </a:rPr>
              <a:t>calendar</a:t>
            </a:r>
            <a:r>
              <a:rPr lang="en" sz="800">
                <a:solidFill>
                  <a:schemeClr val="dk2"/>
                </a:solidFill>
              </a:rPr>
              <a:t> symbol </a:t>
            </a:r>
            <a:endParaRPr sz="800">
              <a:solidFill>
                <a:schemeClr val="dk2"/>
              </a:solidFill>
            </a:endParaRPr>
          </a:p>
          <a:p>
            <a:pPr indent="0" lvl="0" marL="0" rtl="0" algn="l">
              <a:spcBef>
                <a:spcPts val="0"/>
              </a:spcBef>
              <a:spcAft>
                <a:spcPts val="0"/>
              </a:spcAft>
              <a:buNone/>
            </a:pPr>
            <a:r>
              <a:rPr lang="en" sz="800">
                <a:solidFill>
                  <a:schemeClr val="dk2"/>
                </a:solidFill>
              </a:rPr>
              <a:t>Stage movement - if moved forward </a:t>
            </a:r>
            <a:endParaRPr sz="800">
              <a:solidFill>
                <a:schemeClr val="dk2"/>
              </a:solidFill>
            </a:endParaRPr>
          </a:p>
          <a:p>
            <a:pPr indent="0" lvl="0" marL="0" rtl="0" algn="l">
              <a:spcBef>
                <a:spcPts val="0"/>
              </a:spcBef>
              <a:spcAft>
                <a:spcPts val="0"/>
              </a:spcAft>
              <a:buNone/>
            </a:pPr>
            <a:r>
              <a:rPr lang="en" sz="800">
                <a:solidFill>
                  <a:schemeClr val="dk2"/>
                </a:solidFill>
              </a:rPr>
              <a:t>                              If moved backward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Intent rating - star</a:t>
            </a:r>
            <a:endParaRPr sz="800">
              <a:solidFill>
                <a:schemeClr val="dk2"/>
              </a:solidFill>
            </a:endParaRPr>
          </a:p>
          <a:p>
            <a:pPr indent="0" lvl="0" marL="0" rtl="0" algn="l">
              <a:spcBef>
                <a:spcPts val="0"/>
              </a:spcBef>
              <a:spcAft>
                <a:spcPts val="0"/>
              </a:spcAft>
              <a:buNone/>
            </a:pPr>
            <a:r>
              <a:rPr lang="en" sz="800">
                <a:solidFill>
                  <a:schemeClr val="dk2"/>
                </a:solidFill>
              </a:rPr>
              <a:t>Meeting completion - calendar green tick mark </a:t>
            </a:r>
            <a:endParaRPr sz="800">
              <a:solidFill>
                <a:schemeClr val="dk2"/>
              </a:solidFill>
            </a:endParaRPr>
          </a:p>
          <a:p>
            <a:pPr indent="0" lvl="0" marL="0" rtl="0" algn="l">
              <a:spcBef>
                <a:spcPts val="0"/>
              </a:spcBef>
              <a:spcAft>
                <a:spcPts val="0"/>
              </a:spcAft>
              <a:buNone/>
            </a:pPr>
            <a:r>
              <a:rPr lang="en" sz="800">
                <a:solidFill>
                  <a:schemeClr val="dk2"/>
                </a:solidFill>
              </a:rPr>
              <a:t>Meeting rescheduled - </a:t>
            </a:r>
            <a:r>
              <a:rPr lang="en" sz="800">
                <a:solidFill>
                  <a:schemeClr val="dk2"/>
                </a:solidFill>
              </a:rPr>
              <a:t>calendar</a:t>
            </a:r>
            <a:r>
              <a:rPr lang="en" sz="800">
                <a:solidFill>
                  <a:schemeClr val="dk2"/>
                </a:solidFill>
              </a:rPr>
              <a:t> yellow tick mark </a:t>
            </a:r>
            <a:endParaRPr sz="800">
              <a:solidFill>
                <a:schemeClr val="dk2"/>
              </a:solidFill>
            </a:endParaRPr>
          </a:p>
          <a:p>
            <a:pPr indent="0" lvl="0" marL="0" rtl="0" algn="l">
              <a:spcBef>
                <a:spcPts val="0"/>
              </a:spcBef>
              <a:spcAft>
                <a:spcPts val="0"/>
              </a:spcAft>
              <a:buNone/>
            </a:pPr>
            <a:r>
              <a:rPr lang="en" sz="800">
                <a:solidFill>
                  <a:schemeClr val="dk2"/>
                </a:solidFill>
              </a:rPr>
              <a:t>Meeting no show/ cancelled - calendar X red </a:t>
            </a:r>
            <a:endParaRPr sz="800">
              <a:solidFill>
                <a:schemeClr val="dk2"/>
              </a:solidFill>
            </a:endParaRPr>
          </a:p>
          <a:p>
            <a:pPr indent="0" lvl="0" marL="0" rtl="0" algn="l">
              <a:spcBef>
                <a:spcPts val="0"/>
              </a:spcBef>
              <a:spcAft>
                <a:spcPts val="0"/>
              </a:spcAft>
              <a:buNone/>
            </a:pPr>
            <a:r>
              <a:rPr lang="en" sz="800">
                <a:solidFill>
                  <a:schemeClr val="dk2"/>
                </a:solidFill>
              </a:rPr>
              <a:t> </a:t>
            </a:r>
            <a:endParaRPr sz="800">
              <a:solidFill>
                <a:schemeClr val="dk2"/>
              </a:solidFill>
            </a:endParaRPr>
          </a:p>
        </p:txBody>
      </p:sp>
      <p:sp>
        <p:nvSpPr>
          <p:cNvPr id="291" name="Google Shape;291;p25"/>
          <p:cNvSpPr/>
          <p:nvPr/>
        </p:nvSpPr>
        <p:spPr>
          <a:xfrm>
            <a:off x="6753375" y="1245375"/>
            <a:ext cx="445500" cy="111300"/>
          </a:xfrm>
          <a:prstGeom prst="rightArrow">
            <a:avLst>
              <a:gd fmla="val 55592" name="adj1"/>
              <a:gd fmla="val 21832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25"/>
          <p:cNvSpPr/>
          <p:nvPr/>
        </p:nvSpPr>
        <p:spPr>
          <a:xfrm rot="10797685">
            <a:off x="6905799" y="1397833"/>
            <a:ext cx="445500" cy="111300"/>
          </a:xfrm>
          <a:prstGeom prst="rightArrow">
            <a:avLst>
              <a:gd fmla="val 55592" name="adj1"/>
              <a:gd fmla="val 218329"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25"/>
          <p:cNvSpPr/>
          <p:nvPr/>
        </p:nvSpPr>
        <p:spPr>
          <a:xfrm>
            <a:off x="293625" y="1771875"/>
            <a:ext cx="2308500" cy="718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4" name="Google Shape;294;p25"/>
          <p:cNvCxnSpPr/>
          <p:nvPr/>
        </p:nvCxnSpPr>
        <p:spPr>
          <a:xfrm>
            <a:off x="951750" y="2460375"/>
            <a:ext cx="10200" cy="6783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25"/>
          <p:cNvSpPr txBox="1"/>
          <p:nvPr/>
        </p:nvSpPr>
        <p:spPr>
          <a:xfrm>
            <a:off x="101250" y="2571750"/>
            <a:ext cx="4505700" cy="266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Arjun - Date +Time </a:t>
            </a:r>
            <a:endParaRPr b="1" sz="800">
              <a:solidFill>
                <a:schemeClr val="dk2"/>
              </a:solidFill>
            </a:endParaRPr>
          </a:p>
          <a:p>
            <a:pPr indent="0" lvl="0" marL="0" rtl="0" algn="l">
              <a:spcBef>
                <a:spcPts val="0"/>
              </a:spcBef>
              <a:spcAft>
                <a:spcPts val="0"/>
              </a:spcAft>
              <a:buNone/>
            </a:pPr>
            <a:r>
              <a:t/>
            </a:r>
            <a:endParaRPr b="1" sz="800">
              <a:solidFill>
                <a:schemeClr val="dk2"/>
              </a:solidFill>
            </a:endParaRPr>
          </a:p>
          <a:p>
            <a:pPr indent="0" lvl="0" marL="0" rtl="0" algn="l">
              <a:spcBef>
                <a:spcPts val="0"/>
              </a:spcBef>
              <a:spcAft>
                <a:spcPts val="0"/>
              </a:spcAft>
              <a:buNone/>
            </a:pPr>
            <a:r>
              <a:rPr lang="en" sz="800">
                <a:solidFill>
                  <a:schemeClr val="dk2"/>
                </a:solidFill>
              </a:rPr>
              <a:t>Icon - </a:t>
            </a:r>
            <a:r>
              <a:rPr lang="en" sz="800">
                <a:solidFill>
                  <a:schemeClr val="dk2"/>
                </a:solidFill>
              </a:rPr>
              <a:t>outgoing</a:t>
            </a:r>
            <a:r>
              <a:rPr lang="en" sz="800">
                <a:solidFill>
                  <a:schemeClr val="dk2"/>
                </a:solidFill>
              </a:rPr>
              <a:t> call - Answered or not answered - Duration ( 3s or 21min. )</a:t>
            </a:r>
            <a:endParaRPr sz="800">
              <a:solidFill>
                <a:schemeClr val="dk2"/>
              </a:solidFill>
            </a:endParaRPr>
          </a:p>
          <a:p>
            <a:pPr indent="0" lvl="0" marL="0" rtl="0" algn="l">
              <a:spcBef>
                <a:spcPts val="0"/>
              </a:spcBef>
              <a:spcAft>
                <a:spcPts val="0"/>
              </a:spcAft>
              <a:buNone/>
            </a:pPr>
            <a:r>
              <a:rPr lang="en" sz="800">
                <a:solidFill>
                  <a:schemeClr val="dk2"/>
                </a:solidFill>
              </a:rPr>
              <a:t>Notes or Mom </a:t>
            </a:r>
            <a:endParaRPr sz="800">
              <a:solidFill>
                <a:schemeClr val="dk2"/>
              </a:solidFill>
            </a:endParaRPr>
          </a:p>
          <a:p>
            <a:pPr indent="0" lvl="0" marL="0" rtl="0" algn="l">
              <a:spcBef>
                <a:spcPts val="0"/>
              </a:spcBef>
              <a:spcAft>
                <a:spcPts val="0"/>
              </a:spcAft>
              <a:buNone/>
            </a:pPr>
            <a:r>
              <a:rPr lang="en" sz="800">
                <a:solidFill>
                  <a:schemeClr val="dk2"/>
                </a:solidFill>
              </a:rPr>
              <a:t>Next plan of action - </a:t>
            </a:r>
            <a:r>
              <a:rPr lang="en" sz="800">
                <a:solidFill>
                  <a:schemeClr val="dk2"/>
                </a:solidFill>
              </a:rPr>
              <a:t>Follow Up</a:t>
            </a:r>
            <a:r>
              <a:rPr lang="en" sz="800">
                <a:solidFill>
                  <a:schemeClr val="dk2"/>
                </a:solidFill>
              </a:rPr>
              <a:t> task </a:t>
            </a:r>
            <a:endParaRPr sz="800">
              <a:solidFill>
                <a:schemeClr val="dk2"/>
              </a:solidFill>
            </a:endParaRPr>
          </a:p>
          <a:p>
            <a:pPr indent="0" lvl="0" marL="0" rtl="0" algn="l">
              <a:spcBef>
                <a:spcPts val="0"/>
              </a:spcBef>
              <a:spcAft>
                <a:spcPts val="0"/>
              </a:spcAft>
              <a:buClr>
                <a:schemeClr val="dk1"/>
              </a:buClr>
              <a:buSzPts val="1100"/>
              <a:buFont typeface="Arial"/>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endParaRPr sz="800">
              <a:solidFill>
                <a:schemeClr val="dk2"/>
              </a:solidFill>
            </a:endParaRPr>
          </a:p>
          <a:p>
            <a:pPr indent="0" lvl="0" marL="0" rtl="0" algn="l">
              <a:spcBef>
                <a:spcPts val="0"/>
              </a:spcBef>
              <a:spcAft>
                <a:spcPts val="0"/>
              </a:spcAft>
              <a:buNone/>
            </a:pPr>
            <a:r>
              <a:rPr lang="en" sz="800">
                <a:solidFill>
                  <a:schemeClr val="dk2"/>
                </a:solidFill>
              </a:rPr>
              <a:t>Meeting Scheduled - DQL Meeting on date and time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endParaRPr sz="800">
              <a:solidFill>
                <a:schemeClr val="dk2"/>
              </a:solidFill>
            </a:endParaRPr>
          </a:p>
          <a:p>
            <a:pPr indent="0" lvl="0" marL="0" rtl="0" algn="l">
              <a:spcBef>
                <a:spcPts val="0"/>
              </a:spcBef>
              <a:spcAft>
                <a:spcPts val="0"/>
              </a:spcAft>
              <a:buNone/>
            </a:pPr>
            <a:r>
              <a:rPr lang="en" sz="800">
                <a:solidFill>
                  <a:schemeClr val="dk2"/>
                </a:solidFill>
              </a:rPr>
              <a:t>Meeting completed - DQL on date and time </a:t>
            </a:r>
            <a:endParaRPr sz="800">
              <a:solidFill>
                <a:schemeClr val="dk2"/>
              </a:solidFill>
            </a:endParaRPr>
          </a:p>
          <a:p>
            <a:pPr indent="0" lvl="0" marL="0" rtl="0" algn="l">
              <a:spcBef>
                <a:spcPts val="0"/>
              </a:spcBef>
              <a:spcAft>
                <a:spcPts val="0"/>
              </a:spcAft>
              <a:buNone/>
            </a:pPr>
            <a:r>
              <a:rPr lang="en" sz="800">
                <a:solidFill>
                  <a:schemeClr val="dk2"/>
                </a:solidFill>
              </a:rPr>
              <a:t>MOM </a:t>
            </a:r>
            <a:endParaRPr sz="800">
              <a:solidFill>
                <a:schemeClr val="dk2"/>
              </a:solidFill>
            </a:endParaRPr>
          </a:p>
          <a:p>
            <a:pPr indent="0" lvl="0" marL="0" rtl="0" algn="l">
              <a:spcBef>
                <a:spcPts val="0"/>
              </a:spcBef>
              <a:spcAft>
                <a:spcPts val="0"/>
              </a:spcAft>
              <a:buNone/>
            </a:pPr>
            <a:r>
              <a:rPr lang="en" sz="800">
                <a:solidFill>
                  <a:schemeClr val="dk2"/>
                </a:solidFill>
              </a:rPr>
              <a:t>Next plan of action - date and time - Meeting agenda</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endParaRPr sz="800">
              <a:solidFill>
                <a:schemeClr val="dk2"/>
              </a:solidFill>
            </a:endParaRPr>
          </a:p>
          <a:p>
            <a:pPr indent="0" lvl="0" marL="0" rtl="0" algn="l">
              <a:spcBef>
                <a:spcPts val="0"/>
              </a:spcBef>
              <a:spcAft>
                <a:spcPts val="0"/>
              </a:spcAft>
              <a:buNone/>
            </a:pPr>
            <a:r>
              <a:rPr lang="en" sz="800">
                <a:solidFill>
                  <a:schemeClr val="dk2"/>
                </a:solidFill>
              </a:rPr>
              <a:t>Meeting Rescheduled - DQL on date and time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rgbClr val="FF0000"/>
                </a:solidFill>
              </a:rPr>
              <a:t>Arjun - Date +Time </a:t>
            </a:r>
            <a:endParaRPr b="1" sz="800">
              <a:solidFill>
                <a:srgbClr val="FF0000"/>
              </a:solidFill>
            </a:endParaRPr>
          </a:p>
          <a:p>
            <a:pPr indent="0" lvl="0" marL="0" rtl="0" algn="l">
              <a:spcBef>
                <a:spcPts val="0"/>
              </a:spcBef>
              <a:spcAft>
                <a:spcPts val="0"/>
              </a:spcAft>
              <a:buNone/>
            </a:pPr>
            <a:r>
              <a:rPr b="1" lang="en" sz="800">
                <a:solidFill>
                  <a:srgbClr val="FF0000"/>
                </a:solidFill>
              </a:rPr>
              <a:t>Meeting No show </a:t>
            </a:r>
            <a:r>
              <a:rPr lang="en" sz="800">
                <a:solidFill>
                  <a:srgbClr val="FF0000"/>
                </a:solidFill>
              </a:rPr>
              <a:t> </a:t>
            </a:r>
            <a:r>
              <a:rPr lang="en" sz="800"/>
              <a:t>When meeting is no show and haven't replanned mark in red and send notification to the reporting manager in crm and via mail </a:t>
            </a:r>
            <a:endParaRPr sz="800"/>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Clr>
                <a:schemeClr val="dk1"/>
              </a:buClr>
              <a:buSzPts val="1100"/>
              <a:buFont typeface="Arial"/>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296" name="Google Shape;296;p25"/>
          <p:cNvSpPr txBox="1"/>
          <p:nvPr/>
        </p:nvSpPr>
        <p:spPr>
          <a:xfrm>
            <a:off x="4738500" y="2288250"/>
            <a:ext cx="4151100" cy="278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2"/>
                </a:solidFill>
              </a:rPr>
              <a:t>Arjun - Date +Time </a:t>
            </a:r>
            <a:endParaRPr sz="800">
              <a:solidFill>
                <a:schemeClr val="dk2"/>
              </a:solidFill>
            </a:endParaRPr>
          </a:p>
          <a:p>
            <a:pPr indent="0" lvl="0" marL="0" rtl="0" algn="l">
              <a:spcBef>
                <a:spcPts val="0"/>
              </a:spcBef>
              <a:spcAft>
                <a:spcPts val="0"/>
              </a:spcAft>
              <a:buNone/>
            </a:pPr>
            <a:r>
              <a:rPr lang="en" sz="800">
                <a:solidFill>
                  <a:schemeClr val="dk2"/>
                </a:solidFill>
              </a:rPr>
              <a:t>Stage movement - Stage moved from MQL to DQL in (TAT )                           If moved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rgbClr val="FF0000"/>
                </a:solidFill>
              </a:rPr>
              <a:t>Arjun - Date +Time </a:t>
            </a:r>
            <a:endParaRPr sz="800">
              <a:solidFill>
                <a:srgbClr val="FF0000"/>
              </a:solidFill>
            </a:endParaRPr>
          </a:p>
          <a:p>
            <a:pPr indent="0" lvl="0" marL="0" rtl="0" algn="l">
              <a:spcBef>
                <a:spcPts val="0"/>
              </a:spcBef>
              <a:spcAft>
                <a:spcPts val="0"/>
              </a:spcAft>
              <a:buNone/>
            </a:pPr>
            <a:r>
              <a:rPr lang="en" sz="800">
                <a:solidFill>
                  <a:srgbClr val="FF0000"/>
                </a:solidFill>
              </a:rPr>
              <a:t>Stage movement - Stage moved from MQL to EL in (TAT ) </a:t>
            </a:r>
            <a:r>
              <a:rPr lang="en" sz="800"/>
              <a:t>When stage is moved backward mark in red and send notification via mail and in crm to reporting manager and concern person.  Note - stage can only be reversed from MQL to EL no other stages can be reversed. </a:t>
            </a:r>
            <a:endParaRPr sz="800"/>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endParaRPr b="1" sz="800">
              <a:solidFill>
                <a:schemeClr val="dk2"/>
              </a:solidFill>
            </a:endParaRPr>
          </a:p>
          <a:p>
            <a:pPr indent="0" lvl="0" marL="0" rtl="0" algn="l">
              <a:spcBef>
                <a:spcPts val="0"/>
              </a:spcBef>
              <a:spcAft>
                <a:spcPts val="0"/>
              </a:spcAft>
              <a:buNone/>
            </a:pPr>
            <a:r>
              <a:rPr lang="en" sz="800">
                <a:solidFill>
                  <a:schemeClr val="dk2"/>
                </a:solidFill>
              </a:rPr>
              <a:t>Auto intent rating - stars ( when stage is moved ) - Note let the stars be in icon rather than 5stars</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endParaRPr b="1" sz="800">
              <a:solidFill>
                <a:schemeClr val="dk2"/>
              </a:solidFill>
            </a:endParaRPr>
          </a:p>
          <a:p>
            <a:pPr indent="0" lvl="0" marL="0" rtl="0" algn="l">
              <a:spcBef>
                <a:spcPts val="0"/>
              </a:spcBef>
              <a:spcAft>
                <a:spcPts val="0"/>
              </a:spcAft>
              <a:buNone/>
            </a:pPr>
            <a:r>
              <a:rPr lang="en" sz="800">
                <a:solidFill>
                  <a:schemeClr val="dk2"/>
                </a:solidFill>
              </a:rPr>
              <a:t>Intent rating - stars </a:t>
            </a:r>
            <a:endParaRPr sz="800">
              <a:solidFill>
                <a:schemeClr val="dk2"/>
              </a:solidFill>
            </a:endParaRPr>
          </a:p>
          <a:p>
            <a:pPr indent="0" lvl="0" marL="0" rtl="0" algn="l">
              <a:spcBef>
                <a:spcPts val="0"/>
              </a:spcBef>
              <a:spcAft>
                <a:spcPts val="0"/>
              </a:spcAft>
              <a:buClr>
                <a:schemeClr val="dk1"/>
              </a:buClr>
              <a:buSzPts val="1100"/>
              <a:buFont typeface="Arial"/>
              <a:buNone/>
            </a:pPr>
            <a:r>
              <a:rPr lang="en" sz="800">
                <a:solidFill>
                  <a:schemeClr val="dk2"/>
                </a:solidFill>
              </a:rPr>
              <a:t>Reason -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b="1" lang="en" sz="800">
                <a:solidFill>
                  <a:schemeClr val="dk2"/>
                </a:solidFill>
              </a:rPr>
              <a:t>Arjun - Date +Time  </a:t>
            </a:r>
            <a:r>
              <a:rPr lang="en" sz="800">
                <a:solidFill>
                  <a:schemeClr val="dk2"/>
                </a:solidFill>
              </a:rPr>
              <a:t>(Once the designer set intent rating is reversed then mark in red and send mail and crm notification to reporting manager and the designer , if the designer set intent rating is increased like from 3 to 5 then mark in green and send notification to the reporting manager and designer. </a:t>
            </a:r>
            <a:endParaRPr sz="800">
              <a:solidFill>
                <a:schemeClr val="dk2"/>
              </a:solidFill>
            </a:endParaRPr>
          </a:p>
          <a:p>
            <a:pPr indent="0" lvl="0" marL="0" rtl="0" algn="l">
              <a:spcBef>
                <a:spcPts val="0"/>
              </a:spcBef>
              <a:spcAft>
                <a:spcPts val="0"/>
              </a:spcAft>
              <a:buNone/>
            </a:pPr>
            <a:r>
              <a:rPr lang="en" sz="800">
                <a:solidFill>
                  <a:schemeClr val="dk2"/>
                </a:solidFill>
              </a:rPr>
              <a:t>Intent rating - stars </a:t>
            </a:r>
            <a:endParaRPr sz="800">
              <a:solidFill>
                <a:schemeClr val="dk2"/>
              </a:solidFill>
            </a:endParaRPr>
          </a:p>
          <a:p>
            <a:pPr indent="0" lvl="0" marL="0" rtl="0" algn="l">
              <a:spcBef>
                <a:spcPts val="0"/>
              </a:spcBef>
              <a:spcAft>
                <a:spcPts val="0"/>
              </a:spcAft>
              <a:buClr>
                <a:schemeClr val="dk1"/>
              </a:buClr>
              <a:buSzPts val="1100"/>
              <a:buFont typeface="Arial"/>
              <a:buNone/>
            </a:pPr>
            <a:r>
              <a:rPr lang="en" sz="800">
                <a:solidFill>
                  <a:schemeClr val="dk2"/>
                </a:solidFill>
              </a:rPr>
              <a:t>Reason - </a:t>
            </a:r>
            <a:endParaRPr sz="800">
              <a:solidFill>
                <a:schemeClr val="dk2"/>
              </a:solidFill>
            </a:endParaRPr>
          </a:p>
          <a:p>
            <a:pPr indent="0" lvl="0" marL="0" rtl="0" algn="l">
              <a:spcBef>
                <a:spcPts val="0"/>
              </a:spcBef>
              <a:spcAft>
                <a:spcPts val="0"/>
              </a:spcAft>
              <a:buClr>
                <a:schemeClr val="dk1"/>
              </a:buClr>
              <a:buSzPts val="1100"/>
              <a:buFont typeface="Arial"/>
              <a:buNone/>
            </a:pPr>
            <a:r>
              <a:t/>
            </a:r>
            <a:endParaRPr sz="800">
              <a:solidFill>
                <a:schemeClr val="dk2"/>
              </a:solidFill>
            </a:endParaRPr>
          </a:p>
          <a:p>
            <a:pPr indent="0" lvl="0" marL="0" rtl="0" algn="l">
              <a:spcBef>
                <a:spcPts val="0"/>
              </a:spcBef>
              <a:spcAft>
                <a:spcPts val="0"/>
              </a:spcAft>
              <a:buClr>
                <a:schemeClr val="dk1"/>
              </a:buClr>
              <a:buSzPts val="1100"/>
              <a:buFont typeface="Arial"/>
              <a:buNone/>
            </a:pPr>
            <a:r>
              <a:rPr lang="en" sz="800">
                <a:solidFill>
                  <a:schemeClr val="dk2"/>
                </a:solidFill>
              </a:rPr>
              <a:t> </a:t>
            </a:r>
            <a:endParaRPr sz="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6"/>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302" name="Google Shape;302;p26"/>
          <p:cNvPicPr preferRelativeResize="0"/>
          <p:nvPr/>
        </p:nvPicPr>
        <p:blipFill rotWithShape="1">
          <a:blip r:embed="rId3">
            <a:alphaModFix/>
          </a:blip>
          <a:srcRect b="5611" l="0" r="0" t="9123"/>
          <a:stretch/>
        </p:blipFill>
        <p:spPr>
          <a:xfrm>
            <a:off x="0" y="374625"/>
            <a:ext cx="6915876" cy="3685501"/>
          </a:xfrm>
          <a:prstGeom prst="rect">
            <a:avLst/>
          </a:prstGeom>
          <a:noFill/>
          <a:ln>
            <a:noFill/>
          </a:ln>
        </p:spPr>
      </p:pic>
      <p:sp>
        <p:nvSpPr>
          <p:cNvPr id="303" name="Google Shape;303;p26"/>
          <p:cNvSpPr txBox="1"/>
          <p:nvPr/>
        </p:nvSpPr>
        <p:spPr>
          <a:xfrm>
            <a:off x="71375" y="4110750"/>
            <a:ext cx="25035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Once the call is done auto pop open the call log tab</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Once the call log is saved auto mail trigger with notes  and follow up task to Client Ccing the team ( designer + BL +Management) </a:t>
            </a:r>
            <a:endParaRPr sz="800">
              <a:solidFill>
                <a:schemeClr val="dk2"/>
              </a:solidFill>
            </a:endParaRPr>
          </a:p>
        </p:txBody>
      </p:sp>
      <p:sp>
        <p:nvSpPr>
          <p:cNvPr id="304" name="Google Shape;304;p26"/>
          <p:cNvSpPr/>
          <p:nvPr/>
        </p:nvSpPr>
        <p:spPr>
          <a:xfrm>
            <a:off x="3199500" y="3128625"/>
            <a:ext cx="19338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5" name="Google Shape;305;p26"/>
          <p:cNvCxnSpPr>
            <a:stCxn id="304" idx="3"/>
          </p:cNvCxnSpPr>
          <p:nvPr/>
        </p:nvCxnSpPr>
        <p:spPr>
          <a:xfrm>
            <a:off x="5133300" y="3331125"/>
            <a:ext cx="1974600" cy="10200"/>
          </a:xfrm>
          <a:prstGeom prst="straightConnector1">
            <a:avLst/>
          </a:prstGeom>
          <a:noFill/>
          <a:ln cap="flat" cmpd="sng" w="9525">
            <a:solidFill>
              <a:schemeClr val="dk2"/>
            </a:solidFill>
            <a:prstDash val="solid"/>
            <a:round/>
            <a:headEnd len="med" w="med" type="none"/>
            <a:tailEnd len="med" w="med" type="none"/>
          </a:ln>
        </p:spPr>
      </p:cxnSp>
      <p:sp>
        <p:nvSpPr>
          <p:cNvPr id="306" name="Google Shape;306;p26"/>
          <p:cNvSpPr txBox="1"/>
          <p:nvPr/>
        </p:nvSpPr>
        <p:spPr>
          <a:xfrm>
            <a:off x="6998100" y="3199500"/>
            <a:ext cx="214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Unable to edit </a:t>
            </a:r>
            <a:endParaRPr sz="800">
              <a:solidFill>
                <a:schemeClr val="dk2"/>
              </a:solidFill>
            </a:endParaRPr>
          </a:p>
        </p:txBody>
      </p:sp>
      <p:sp>
        <p:nvSpPr>
          <p:cNvPr id="307" name="Google Shape;307;p26"/>
          <p:cNvSpPr/>
          <p:nvPr/>
        </p:nvSpPr>
        <p:spPr>
          <a:xfrm>
            <a:off x="3199500" y="2086275"/>
            <a:ext cx="1933800" cy="405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8" name="Google Shape;308;p26"/>
          <p:cNvCxnSpPr/>
          <p:nvPr/>
        </p:nvCxnSpPr>
        <p:spPr>
          <a:xfrm>
            <a:off x="5133300" y="2217900"/>
            <a:ext cx="1974600" cy="10200"/>
          </a:xfrm>
          <a:prstGeom prst="straightConnector1">
            <a:avLst/>
          </a:prstGeom>
          <a:noFill/>
          <a:ln cap="flat" cmpd="sng" w="9525">
            <a:solidFill>
              <a:schemeClr val="dk2"/>
            </a:solidFill>
            <a:prstDash val="solid"/>
            <a:round/>
            <a:headEnd len="med" w="med" type="none"/>
            <a:tailEnd len="med" w="med" type="none"/>
          </a:ln>
        </p:spPr>
      </p:cxnSp>
      <p:sp>
        <p:nvSpPr>
          <p:cNvPr id="309" name="Google Shape;309;p26"/>
          <p:cNvSpPr txBox="1"/>
          <p:nvPr/>
        </p:nvSpPr>
        <p:spPr>
          <a:xfrm>
            <a:off x="6998100" y="2086275"/>
            <a:ext cx="21459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Remove duration - Replace it with date and time </a:t>
            </a:r>
            <a:endParaRPr sz="800">
              <a:solidFill>
                <a:schemeClr val="dk2"/>
              </a:solidFill>
            </a:endParaRPr>
          </a:p>
        </p:txBody>
      </p:sp>
      <p:sp>
        <p:nvSpPr>
          <p:cNvPr id="310" name="Google Shape;310;p26"/>
          <p:cNvSpPr/>
          <p:nvPr/>
        </p:nvSpPr>
        <p:spPr>
          <a:xfrm>
            <a:off x="1433975" y="3129650"/>
            <a:ext cx="1765200" cy="1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1" name="Google Shape;311;p26"/>
          <p:cNvCxnSpPr/>
          <p:nvPr/>
        </p:nvCxnSpPr>
        <p:spPr>
          <a:xfrm>
            <a:off x="2972625" y="3244775"/>
            <a:ext cx="1088700" cy="1005000"/>
          </a:xfrm>
          <a:prstGeom prst="straightConnector1">
            <a:avLst/>
          </a:prstGeom>
          <a:noFill/>
          <a:ln cap="flat" cmpd="sng" w="9525">
            <a:solidFill>
              <a:schemeClr val="dk2"/>
            </a:solidFill>
            <a:prstDash val="solid"/>
            <a:round/>
            <a:headEnd len="med" w="med" type="none"/>
            <a:tailEnd len="med" w="med" type="none"/>
          </a:ln>
        </p:spPr>
      </p:cxnSp>
      <p:sp>
        <p:nvSpPr>
          <p:cNvPr id="312" name="Google Shape;312;p26"/>
          <p:cNvSpPr txBox="1"/>
          <p:nvPr/>
        </p:nvSpPr>
        <p:spPr>
          <a:xfrm>
            <a:off x="3813950" y="4170975"/>
            <a:ext cx="25035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Agenda (Manuel type - DQL meeting ) +Internal or </a:t>
            </a:r>
            <a:r>
              <a:rPr lang="en" sz="800">
                <a:solidFill>
                  <a:schemeClr val="dk2"/>
                </a:solidFill>
              </a:rPr>
              <a:t>external</a:t>
            </a:r>
            <a:r>
              <a:rPr lang="en" sz="800">
                <a:solidFill>
                  <a:schemeClr val="dk2"/>
                </a:solidFill>
              </a:rPr>
              <a:t> drop down.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its internal - team gets the notification in crm and mail - if its external - client gets a auto mail </a:t>
            </a:r>
            <a:r>
              <a:rPr lang="en" sz="800">
                <a:solidFill>
                  <a:schemeClr val="dk2"/>
                </a:solidFill>
              </a:rPr>
              <a:t>trigger</a:t>
            </a:r>
            <a:r>
              <a:rPr lang="en" sz="800">
                <a:solidFill>
                  <a:schemeClr val="dk2"/>
                </a:solidFill>
              </a:rPr>
              <a:t> </a:t>
            </a:r>
            <a:endParaRPr sz="800">
              <a:solidFill>
                <a:schemeClr val="dk2"/>
              </a:solidFill>
            </a:endParaRPr>
          </a:p>
        </p:txBody>
      </p:sp>
      <p:cxnSp>
        <p:nvCxnSpPr>
          <p:cNvPr id="313" name="Google Shape;313;p26"/>
          <p:cNvCxnSpPr>
            <a:stCxn id="310" idx="0"/>
          </p:cNvCxnSpPr>
          <p:nvPr/>
        </p:nvCxnSpPr>
        <p:spPr>
          <a:xfrm rot="-5400000">
            <a:off x="4675175" y="530450"/>
            <a:ext cx="240600" cy="4957800"/>
          </a:xfrm>
          <a:prstGeom prst="bentConnector2">
            <a:avLst/>
          </a:prstGeom>
          <a:noFill/>
          <a:ln cap="flat" cmpd="sng" w="9525">
            <a:solidFill>
              <a:schemeClr val="dk2"/>
            </a:solidFill>
            <a:prstDash val="solid"/>
            <a:round/>
            <a:headEnd len="med" w="med" type="none"/>
            <a:tailEnd len="med" w="med" type="none"/>
          </a:ln>
        </p:spPr>
      </p:cxnSp>
      <p:sp>
        <p:nvSpPr>
          <p:cNvPr id="314" name="Google Shape;314;p26"/>
          <p:cNvSpPr txBox="1"/>
          <p:nvPr/>
        </p:nvSpPr>
        <p:spPr>
          <a:xfrm>
            <a:off x="7107900" y="2708700"/>
            <a:ext cx="21459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Rename follow up task to Next plan of action </a:t>
            </a:r>
            <a:endParaRPr sz="800">
              <a:solidFill>
                <a:schemeClr val="dk2"/>
              </a:solidFill>
            </a:endParaRPr>
          </a:p>
        </p:txBody>
      </p:sp>
      <p:sp>
        <p:nvSpPr>
          <p:cNvPr id="315" name="Google Shape;315;p26"/>
          <p:cNvSpPr/>
          <p:nvPr/>
        </p:nvSpPr>
        <p:spPr>
          <a:xfrm>
            <a:off x="2316575" y="2995163"/>
            <a:ext cx="882600" cy="1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26"/>
          <p:cNvSpPr txBox="1"/>
          <p:nvPr/>
        </p:nvSpPr>
        <p:spPr>
          <a:xfrm>
            <a:off x="6998100" y="3875250"/>
            <a:ext cx="214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2"/>
                </a:solidFill>
              </a:rPr>
              <a:t>Add  Drop down ( call or meeting ) - if its a call then let the data sit in follow up - if its a meeting then schedule meeting tab be opened or reflected here.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317" name="Google Shape;317;p26"/>
          <p:cNvSpPr/>
          <p:nvPr/>
        </p:nvSpPr>
        <p:spPr>
          <a:xfrm>
            <a:off x="1799075" y="1879575"/>
            <a:ext cx="882600" cy="1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18" name="Google Shape;318;p26"/>
          <p:cNvCxnSpPr>
            <a:stCxn id="317" idx="3"/>
          </p:cNvCxnSpPr>
          <p:nvPr/>
        </p:nvCxnSpPr>
        <p:spPr>
          <a:xfrm flipH="1" rot="10800000">
            <a:off x="2681675" y="858225"/>
            <a:ext cx="4404600" cy="1099800"/>
          </a:xfrm>
          <a:prstGeom prst="straightConnector1">
            <a:avLst/>
          </a:prstGeom>
          <a:noFill/>
          <a:ln cap="flat" cmpd="sng" w="9525">
            <a:solidFill>
              <a:schemeClr val="dk2"/>
            </a:solidFill>
            <a:prstDash val="solid"/>
            <a:round/>
            <a:headEnd len="med" w="med" type="none"/>
            <a:tailEnd len="med" w="med" type="none"/>
          </a:ln>
        </p:spPr>
      </p:cxnSp>
      <p:sp>
        <p:nvSpPr>
          <p:cNvPr id="319" name="Google Shape;319;p26"/>
          <p:cNvSpPr txBox="1"/>
          <p:nvPr/>
        </p:nvSpPr>
        <p:spPr>
          <a:xfrm>
            <a:off x="6915875" y="629475"/>
            <a:ext cx="2145900" cy="4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If call made through the system auto time stamp the date +time+ duration</a:t>
            </a:r>
            <a:endParaRPr sz="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325" name="Google Shape;325;p27"/>
          <p:cNvSpPr txBox="1"/>
          <p:nvPr/>
        </p:nvSpPr>
        <p:spPr>
          <a:xfrm>
            <a:off x="6915875" y="516275"/>
            <a:ext cx="2916300" cy="24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2"/>
              </a:solidFill>
            </a:endParaRPr>
          </a:p>
        </p:txBody>
      </p:sp>
      <p:pic>
        <p:nvPicPr>
          <p:cNvPr id="326" name="Google Shape;326;p27"/>
          <p:cNvPicPr preferRelativeResize="0"/>
          <p:nvPr/>
        </p:nvPicPr>
        <p:blipFill>
          <a:blip r:embed="rId3">
            <a:alphaModFix/>
          </a:blip>
          <a:stretch>
            <a:fillRect/>
          </a:stretch>
        </p:blipFill>
        <p:spPr>
          <a:xfrm>
            <a:off x="152400" y="668675"/>
            <a:ext cx="5553810" cy="4322422"/>
          </a:xfrm>
          <a:prstGeom prst="rect">
            <a:avLst/>
          </a:prstGeom>
          <a:noFill/>
          <a:ln>
            <a:noFill/>
          </a:ln>
        </p:spPr>
      </p:pic>
      <p:cxnSp>
        <p:nvCxnSpPr>
          <p:cNvPr id="327" name="Google Shape;327;p27"/>
          <p:cNvCxnSpPr/>
          <p:nvPr/>
        </p:nvCxnSpPr>
        <p:spPr>
          <a:xfrm>
            <a:off x="870750" y="4070250"/>
            <a:ext cx="4991700" cy="10200"/>
          </a:xfrm>
          <a:prstGeom prst="straightConnector1">
            <a:avLst/>
          </a:prstGeom>
          <a:noFill/>
          <a:ln cap="flat" cmpd="sng" w="9525">
            <a:solidFill>
              <a:schemeClr val="dk2"/>
            </a:solidFill>
            <a:prstDash val="solid"/>
            <a:round/>
            <a:headEnd len="med" w="med" type="none"/>
            <a:tailEnd len="med" w="med" type="none"/>
          </a:ln>
        </p:spPr>
      </p:cxnSp>
      <p:sp>
        <p:nvSpPr>
          <p:cNvPr id="328" name="Google Shape;328;p27"/>
          <p:cNvSpPr txBox="1"/>
          <p:nvPr/>
        </p:nvSpPr>
        <p:spPr>
          <a:xfrm>
            <a:off x="5862450" y="3868275"/>
            <a:ext cx="3139200" cy="13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RNR 6 &amp; beyond</a:t>
            </a:r>
            <a:endParaRPr sz="800">
              <a:solidFill>
                <a:schemeClr val="dk2"/>
              </a:solidFill>
            </a:endParaRPr>
          </a:p>
          <a:p>
            <a:pPr indent="0" lvl="0" marL="0" rtl="0" algn="l">
              <a:spcBef>
                <a:spcPts val="0"/>
              </a:spcBef>
              <a:spcAft>
                <a:spcPts val="0"/>
              </a:spcAft>
              <a:buNone/>
            </a:pPr>
            <a:r>
              <a:rPr lang="en" sz="800">
                <a:solidFill>
                  <a:schemeClr val="dk2"/>
                </a:solidFill>
              </a:rPr>
              <a:t>Meeting scheduled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its a call back scheduled the current follow up tab to be reflected , if its a meeting scheduled then - meeting scheduled tab to be reflected in next plan of action.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329" name="Google Shape;329;p27"/>
          <p:cNvSpPr txBox="1"/>
          <p:nvPr/>
        </p:nvSpPr>
        <p:spPr>
          <a:xfrm>
            <a:off x="5805525" y="1909200"/>
            <a:ext cx="3139200" cy="13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For all the call out come client and internal team gets the notification mail + watsapp - msg template will be given.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335" name="Google Shape;335;p28"/>
          <p:cNvSpPr txBox="1"/>
          <p:nvPr/>
        </p:nvSpPr>
        <p:spPr>
          <a:xfrm>
            <a:off x="6915875" y="516275"/>
            <a:ext cx="2916300" cy="24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2"/>
              </a:solidFill>
            </a:endParaRPr>
          </a:p>
        </p:txBody>
      </p:sp>
      <p:sp>
        <p:nvSpPr>
          <p:cNvPr id="336" name="Google Shape;336;p28"/>
          <p:cNvSpPr txBox="1"/>
          <p:nvPr/>
        </p:nvSpPr>
        <p:spPr>
          <a:xfrm>
            <a:off x="5467200" y="3125125"/>
            <a:ext cx="3676800" cy="13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If the task is not done in the scheduled time - auto crm notification </a:t>
            </a:r>
            <a:r>
              <a:rPr lang="en" sz="800">
                <a:solidFill>
                  <a:schemeClr val="dk2"/>
                </a:solidFill>
              </a:rPr>
              <a:t>pending</a:t>
            </a:r>
            <a:r>
              <a:rPr lang="en" sz="800">
                <a:solidFill>
                  <a:schemeClr val="dk2"/>
                </a:solidFill>
              </a:rPr>
              <a:t> follow up - and change task clr to red.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the follow up is a call then without call been recorded task cant be marked completed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Mark done - option should also have a drop </a:t>
            </a:r>
            <a:r>
              <a:rPr lang="en" sz="800">
                <a:solidFill>
                  <a:schemeClr val="dk2"/>
                </a:solidFill>
              </a:rPr>
              <a:t>down</a:t>
            </a:r>
            <a:r>
              <a:rPr lang="en" sz="800">
                <a:solidFill>
                  <a:schemeClr val="dk2"/>
                </a:solidFill>
              </a:rPr>
              <a:t> - Mark not done - mark replanned.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its marked not done then the entire box to be in red clr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its replanned then the entire box to be in yellow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pic>
        <p:nvPicPr>
          <p:cNvPr id="337" name="Google Shape;337;p28"/>
          <p:cNvPicPr preferRelativeResize="0"/>
          <p:nvPr/>
        </p:nvPicPr>
        <p:blipFill rotWithShape="1">
          <a:blip r:embed="rId3">
            <a:alphaModFix/>
          </a:blip>
          <a:srcRect b="5897" l="15788" r="22806" t="9379"/>
          <a:stretch/>
        </p:blipFill>
        <p:spPr>
          <a:xfrm>
            <a:off x="0" y="429125"/>
            <a:ext cx="5467208" cy="4714374"/>
          </a:xfrm>
          <a:prstGeom prst="rect">
            <a:avLst/>
          </a:prstGeom>
          <a:noFill/>
          <a:ln>
            <a:noFill/>
          </a:ln>
        </p:spPr>
      </p:pic>
      <p:cxnSp>
        <p:nvCxnSpPr>
          <p:cNvPr id="338" name="Google Shape;338;p28"/>
          <p:cNvCxnSpPr/>
          <p:nvPr/>
        </p:nvCxnSpPr>
        <p:spPr>
          <a:xfrm flipH="1" rot="10800000">
            <a:off x="1946875" y="1318725"/>
            <a:ext cx="3747300" cy="324600"/>
          </a:xfrm>
          <a:prstGeom prst="straightConnector1">
            <a:avLst/>
          </a:prstGeom>
          <a:noFill/>
          <a:ln cap="flat" cmpd="sng" w="9525">
            <a:solidFill>
              <a:schemeClr val="dk2"/>
            </a:solidFill>
            <a:prstDash val="solid"/>
            <a:round/>
            <a:headEnd len="med" w="med" type="none"/>
            <a:tailEnd len="med" w="med" type="none"/>
          </a:ln>
        </p:spPr>
      </p:cxnSp>
      <p:sp>
        <p:nvSpPr>
          <p:cNvPr id="339" name="Google Shape;339;p28"/>
          <p:cNvSpPr txBox="1"/>
          <p:nvPr/>
        </p:nvSpPr>
        <p:spPr>
          <a:xfrm>
            <a:off x="5762975" y="1127025"/>
            <a:ext cx="214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Show the number of active follow ups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When </a:t>
            </a:r>
            <a:r>
              <a:rPr lang="en" sz="800">
                <a:solidFill>
                  <a:schemeClr val="dk2"/>
                </a:solidFill>
              </a:rPr>
              <a:t>there</a:t>
            </a:r>
            <a:r>
              <a:rPr lang="en" sz="800">
                <a:solidFill>
                  <a:schemeClr val="dk2"/>
                </a:solidFill>
              </a:rPr>
              <a:t> is one active follow up - next follow up cant be created - if its getting created </a:t>
            </a:r>
            <a:r>
              <a:rPr lang="en" sz="800">
                <a:solidFill>
                  <a:schemeClr val="dk2"/>
                </a:solidFill>
              </a:rPr>
              <a:t>system</a:t>
            </a:r>
            <a:r>
              <a:rPr lang="en" sz="800">
                <a:solidFill>
                  <a:schemeClr val="dk2"/>
                </a:solidFill>
              </a:rPr>
              <a:t> to ask to update the task. </a:t>
            </a:r>
            <a:endParaRPr sz="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9"/>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345" name="Google Shape;345;p29"/>
          <p:cNvPicPr preferRelativeResize="0"/>
          <p:nvPr/>
        </p:nvPicPr>
        <p:blipFill>
          <a:blip r:embed="rId3">
            <a:alphaModFix/>
          </a:blip>
          <a:stretch>
            <a:fillRect/>
          </a:stretch>
        </p:blipFill>
        <p:spPr>
          <a:xfrm>
            <a:off x="240750" y="516275"/>
            <a:ext cx="5162402" cy="2107876"/>
          </a:xfrm>
          <a:prstGeom prst="rect">
            <a:avLst/>
          </a:prstGeom>
          <a:noFill/>
          <a:ln>
            <a:noFill/>
          </a:ln>
        </p:spPr>
      </p:pic>
      <p:sp>
        <p:nvSpPr>
          <p:cNvPr id="346" name="Google Shape;346;p29"/>
          <p:cNvSpPr/>
          <p:nvPr/>
        </p:nvSpPr>
        <p:spPr>
          <a:xfrm>
            <a:off x="418700" y="1568325"/>
            <a:ext cx="2449500" cy="1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9"/>
          <p:cNvSpPr txBox="1"/>
          <p:nvPr/>
        </p:nvSpPr>
        <p:spPr>
          <a:xfrm>
            <a:off x="1946875" y="3174875"/>
            <a:ext cx="2503500" cy="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Agenda (Manuel type - DQL meeting ) +Internal or external drop down.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If its internal - team gets the notification in crm and mail - if its external - client gets a auto mail trigger </a:t>
            </a:r>
            <a:endParaRPr sz="800">
              <a:solidFill>
                <a:schemeClr val="dk2"/>
              </a:solidFill>
            </a:endParaRPr>
          </a:p>
        </p:txBody>
      </p:sp>
      <p:sp>
        <p:nvSpPr>
          <p:cNvPr id="348" name="Google Shape;348;p29"/>
          <p:cNvSpPr/>
          <p:nvPr/>
        </p:nvSpPr>
        <p:spPr>
          <a:xfrm>
            <a:off x="3070200" y="1568313"/>
            <a:ext cx="882600" cy="156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9"/>
          <p:cNvSpPr txBox="1"/>
          <p:nvPr/>
        </p:nvSpPr>
        <p:spPr>
          <a:xfrm>
            <a:off x="560575" y="1484475"/>
            <a:ext cx="13863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Agenda</a:t>
            </a:r>
            <a:endParaRPr sz="800">
              <a:solidFill>
                <a:schemeClr val="dk2"/>
              </a:solidFill>
            </a:endParaRPr>
          </a:p>
        </p:txBody>
      </p:sp>
      <p:sp>
        <p:nvSpPr>
          <p:cNvPr id="350" name="Google Shape;350;p29"/>
          <p:cNvSpPr txBox="1"/>
          <p:nvPr/>
        </p:nvSpPr>
        <p:spPr>
          <a:xfrm>
            <a:off x="3064075" y="1484475"/>
            <a:ext cx="13863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Internal /External </a:t>
            </a:r>
            <a:endParaRPr sz="800">
              <a:solidFill>
                <a:schemeClr val="dk2"/>
              </a:solidFill>
            </a:endParaRPr>
          </a:p>
        </p:txBody>
      </p:sp>
      <p:cxnSp>
        <p:nvCxnSpPr>
          <p:cNvPr id="351" name="Google Shape;351;p29"/>
          <p:cNvCxnSpPr/>
          <p:nvPr/>
        </p:nvCxnSpPr>
        <p:spPr>
          <a:xfrm>
            <a:off x="2868200" y="1646775"/>
            <a:ext cx="52200" cy="1409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0"/>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357" name="Google Shape;357;p30"/>
          <p:cNvPicPr preferRelativeResize="0"/>
          <p:nvPr/>
        </p:nvPicPr>
        <p:blipFill>
          <a:blip r:embed="rId3">
            <a:alphaModFix/>
          </a:blip>
          <a:stretch>
            <a:fillRect/>
          </a:stretch>
        </p:blipFill>
        <p:spPr>
          <a:xfrm>
            <a:off x="183175" y="516275"/>
            <a:ext cx="5742174" cy="3848476"/>
          </a:xfrm>
          <a:prstGeom prst="rect">
            <a:avLst/>
          </a:prstGeom>
          <a:noFill/>
          <a:ln>
            <a:noFill/>
          </a:ln>
        </p:spPr>
      </p:pic>
      <p:cxnSp>
        <p:nvCxnSpPr>
          <p:cNvPr id="358" name="Google Shape;358;p30"/>
          <p:cNvCxnSpPr/>
          <p:nvPr/>
        </p:nvCxnSpPr>
        <p:spPr>
          <a:xfrm>
            <a:off x="4061200" y="2847025"/>
            <a:ext cx="2302800" cy="10500"/>
          </a:xfrm>
          <a:prstGeom prst="straightConnector1">
            <a:avLst/>
          </a:prstGeom>
          <a:noFill/>
          <a:ln cap="flat" cmpd="sng" w="9525">
            <a:solidFill>
              <a:schemeClr val="dk2"/>
            </a:solidFill>
            <a:prstDash val="solid"/>
            <a:round/>
            <a:headEnd len="med" w="med" type="none"/>
            <a:tailEnd len="med" w="med" type="none"/>
          </a:ln>
        </p:spPr>
      </p:cxnSp>
      <p:sp>
        <p:nvSpPr>
          <p:cNvPr id="359" name="Google Shape;359;p30"/>
          <p:cNvSpPr txBox="1"/>
          <p:nvPr/>
        </p:nvSpPr>
        <p:spPr>
          <a:xfrm>
            <a:off x="6364000" y="2686600"/>
            <a:ext cx="214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client place </a:t>
            </a:r>
            <a:endParaRPr sz="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1"/>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365" name="Google Shape;365;p31"/>
          <p:cNvSpPr txBox="1"/>
          <p:nvPr/>
        </p:nvSpPr>
        <p:spPr>
          <a:xfrm>
            <a:off x="6196525" y="2477275"/>
            <a:ext cx="2145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 OB meeting </a:t>
            </a:r>
            <a:endParaRPr sz="800">
              <a:solidFill>
                <a:schemeClr val="dk2"/>
              </a:solidFill>
            </a:endParaRPr>
          </a:p>
        </p:txBody>
      </p:sp>
      <p:pic>
        <p:nvPicPr>
          <p:cNvPr id="366" name="Google Shape;366;p31"/>
          <p:cNvPicPr preferRelativeResize="0"/>
          <p:nvPr/>
        </p:nvPicPr>
        <p:blipFill>
          <a:blip r:embed="rId3">
            <a:alphaModFix/>
          </a:blip>
          <a:stretch>
            <a:fillRect/>
          </a:stretch>
        </p:blipFill>
        <p:spPr>
          <a:xfrm>
            <a:off x="152400" y="668675"/>
            <a:ext cx="5432402" cy="3727475"/>
          </a:xfrm>
          <a:prstGeom prst="rect">
            <a:avLst/>
          </a:prstGeom>
          <a:noFill/>
          <a:ln>
            <a:noFill/>
          </a:ln>
        </p:spPr>
      </p:pic>
      <p:cxnSp>
        <p:nvCxnSpPr>
          <p:cNvPr id="367" name="Google Shape;367;p31"/>
          <p:cNvCxnSpPr/>
          <p:nvPr/>
        </p:nvCxnSpPr>
        <p:spPr>
          <a:xfrm>
            <a:off x="2407400" y="2566500"/>
            <a:ext cx="3674100" cy="8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32"/>
          <p:cNvPicPr preferRelativeResize="0"/>
          <p:nvPr/>
        </p:nvPicPr>
        <p:blipFill>
          <a:blip r:embed="rId3">
            <a:alphaModFix/>
          </a:blip>
          <a:stretch>
            <a:fillRect/>
          </a:stretch>
        </p:blipFill>
        <p:spPr>
          <a:xfrm>
            <a:off x="68650" y="435025"/>
            <a:ext cx="5771951" cy="4604450"/>
          </a:xfrm>
          <a:prstGeom prst="rect">
            <a:avLst/>
          </a:prstGeom>
          <a:noFill/>
          <a:ln>
            <a:noFill/>
          </a:ln>
        </p:spPr>
      </p:pic>
      <p:sp>
        <p:nvSpPr>
          <p:cNvPr id="373" name="Google Shape;373;p32"/>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374" name="Google Shape;374;p32"/>
          <p:cNvSpPr txBox="1"/>
          <p:nvPr/>
        </p:nvSpPr>
        <p:spPr>
          <a:xfrm>
            <a:off x="6183475" y="1576975"/>
            <a:ext cx="21459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 Attachment type ( Lifestyle capture, Proposal, Pitch presentation - can be multiple select ) + Attachment </a:t>
            </a:r>
            <a:br>
              <a:rPr lang="en" sz="800">
                <a:solidFill>
                  <a:schemeClr val="dk2"/>
                </a:solidFill>
              </a:rPr>
            </a:br>
            <a:r>
              <a:rPr lang="en" sz="800">
                <a:solidFill>
                  <a:schemeClr val="dk2"/>
                </a:solidFill>
              </a:rPr>
              <a:t> </a:t>
            </a:r>
            <a:endParaRPr sz="800">
              <a:solidFill>
                <a:schemeClr val="dk2"/>
              </a:solidFill>
            </a:endParaRPr>
          </a:p>
        </p:txBody>
      </p:sp>
      <p:cxnSp>
        <p:nvCxnSpPr>
          <p:cNvPr id="375" name="Google Shape;375;p32"/>
          <p:cNvCxnSpPr/>
          <p:nvPr/>
        </p:nvCxnSpPr>
        <p:spPr>
          <a:xfrm>
            <a:off x="2407400" y="2566500"/>
            <a:ext cx="3674100" cy="84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32"/>
          <p:cNvSpPr/>
          <p:nvPr/>
        </p:nvSpPr>
        <p:spPr>
          <a:xfrm>
            <a:off x="2009375" y="2844450"/>
            <a:ext cx="2562600" cy="261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77" name="Google Shape;377;p32"/>
          <p:cNvCxnSpPr/>
          <p:nvPr/>
        </p:nvCxnSpPr>
        <p:spPr>
          <a:xfrm flipH="1" rot="10800000">
            <a:off x="3744750" y="3000875"/>
            <a:ext cx="2544300" cy="13200"/>
          </a:xfrm>
          <a:prstGeom prst="straightConnector1">
            <a:avLst/>
          </a:prstGeom>
          <a:noFill/>
          <a:ln cap="flat" cmpd="sng" w="9525">
            <a:solidFill>
              <a:schemeClr val="dk2"/>
            </a:solidFill>
            <a:prstDash val="solid"/>
            <a:round/>
            <a:headEnd len="med" w="med" type="none"/>
            <a:tailEnd len="med" w="med" type="none"/>
          </a:ln>
        </p:spPr>
      </p:cxnSp>
      <p:sp>
        <p:nvSpPr>
          <p:cNvPr id="378" name="Google Shape;378;p32"/>
          <p:cNvSpPr txBox="1"/>
          <p:nvPr/>
        </p:nvSpPr>
        <p:spPr>
          <a:xfrm>
            <a:off x="6427200" y="2844450"/>
            <a:ext cx="21459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Add next plan of action tab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Meetings ( DQL , PP, OB ) - mode - date time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Call - agenda - date time</a:t>
            </a:r>
            <a:endParaRPr sz="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33"/>
          <p:cNvPicPr preferRelativeResize="0"/>
          <p:nvPr/>
        </p:nvPicPr>
        <p:blipFill>
          <a:blip r:embed="rId3">
            <a:alphaModFix/>
          </a:blip>
          <a:stretch>
            <a:fillRect/>
          </a:stretch>
        </p:blipFill>
        <p:spPr>
          <a:xfrm>
            <a:off x="369850" y="623425"/>
            <a:ext cx="5711648" cy="3188192"/>
          </a:xfrm>
          <a:prstGeom prst="rect">
            <a:avLst/>
          </a:prstGeom>
          <a:noFill/>
          <a:ln>
            <a:noFill/>
          </a:ln>
        </p:spPr>
      </p:pic>
      <p:sp>
        <p:nvSpPr>
          <p:cNvPr id="384" name="Google Shape;384;p33"/>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385" name="Google Shape;385;p33"/>
          <p:cNvSpPr txBox="1"/>
          <p:nvPr/>
        </p:nvSpPr>
        <p:spPr>
          <a:xfrm>
            <a:off x="6196525" y="2477275"/>
            <a:ext cx="21459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To be removed. </a:t>
            </a:r>
            <a:endParaRPr sz="800">
              <a:solidFill>
                <a:schemeClr val="dk2"/>
              </a:solidFill>
            </a:endParaRPr>
          </a:p>
        </p:txBody>
      </p:sp>
      <p:cxnSp>
        <p:nvCxnSpPr>
          <p:cNvPr id="386" name="Google Shape;386;p33"/>
          <p:cNvCxnSpPr/>
          <p:nvPr/>
        </p:nvCxnSpPr>
        <p:spPr>
          <a:xfrm>
            <a:off x="2501525" y="3104600"/>
            <a:ext cx="3873000" cy="45900"/>
          </a:xfrm>
          <a:prstGeom prst="straightConnector1">
            <a:avLst/>
          </a:prstGeom>
          <a:noFill/>
          <a:ln cap="flat" cmpd="sng" w="9525">
            <a:solidFill>
              <a:schemeClr val="dk2"/>
            </a:solidFill>
            <a:prstDash val="solid"/>
            <a:round/>
            <a:headEnd len="med" w="med" type="none"/>
            <a:tailEnd len="med" w="med" type="none"/>
          </a:ln>
        </p:spPr>
      </p:cxnSp>
      <p:sp>
        <p:nvSpPr>
          <p:cNvPr id="387" name="Google Shape;387;p33"/>
          <p:cNvSpPr/>
          <p:nvPr/>
        </p:nvSpPr>
        <p:spPr>
          <a:xfrm>
            <a:off x="628025" y="2983100"/>
            <a:ext cx="1873500" cy="25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4"/>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393" name="Google Shape;393;p34"/>
          <p:cNvPicPr preferRelativeResize="0"/>
          <p:nvPr/>
        </p:nvPicPr>
        <p:blipFill>
          <a:blip r:embed="rId3">
            <a:alphaModFix/>
          </a:blip>
          <a:stretch>
            <a:fillRect/>
          </a:stretch>
        </p:blipFill>
        <p:spPr>
          <a:xfrm>
            <a:off x="304850" y="516263"/>
            <a:ext cx="5593724" cy="4322423"/>
          </a:xfrm>
          <a:prstGeom prst="rect">
            <a:avLst/>
          </a:prstGeom>
          <a:noFill/>
          <a:ln>
            <a:noFill/>
          </a:ln>
        </p:spPr>
      </p:pic>
      <p:cxnSp>
        <p:nvCxnSpPr>
          <p:cNvPr id="394" name="Google Shape;394;p34"/>
          <p:cNvCxnSpPr/>
          <p:nvPr/>
        </p:nvCxnSpPr>
        <p:spPr>
          <a:xfrm flipH="1" rot="10800000">
            <a:off x="3935600" y="2449250"/>
            <a:ext cx="2376000" cy="10500"/>
          </a:xfrm>
          <a:prstGeom prst="straightConnector1">
            <a:avLst/>
          </a:prstGeom>
          <a:noFill/>
          <a:ln cap="flat" cmpd="sng" w="9525">
            <a:solidFill>
              <a:schemeClr val="dk2"/>
            </a:solidFill>
            <a:prstDash val="solid"/>
            <a:round/>
            <a:headEnd len="med" w="med" type="none"/>
            <a:tailEnd len="med" w="med" type="none"/>
          </a:ln>
        </p:spPr>
      </p:cxnSp>
      <p:sp>
        <p:nvSpPr>
          <p:cNvPr id="395" name="Google Shape;395;p34"/>
          <p:cNvSpPr txBox="1"/>
          <p:nvPr/>
        </p:nvSpPr>
        <p:spPr>
          <a:xfrm>
            <a:off x="6311600" y="2126225"/>
            <a:ext cx="21459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When there is one active meeting is scheduled next meeting cant be created unless its rescheduled or no show </a:t>
            </a:r>
            <a:endParaRPr sz="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5"/>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sp>
        <p:nvSpPr>
          <p:cNvPr id="401" name="Google Shape;401;p35"/>
          <p:cNvSpPr txBox="1"/>
          <p:nvPr/>
        </p:nvSpPr>
        <p:spPr>
          <a:xfrm>
            <a:off x="6311600" y="1469250"/>
            <a:ext cx="21459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When meeting is rescheduled - </a:t>
            </a:r>
            <a:r>
              <a:rPr lang="en" sz="800">
                <a:solidFill>
                  <a:schemeClr val="dk2"/>
                </a:solidFill>
              </a:rPr>
              <a:t>rescheduled</a:t>
            </a:r>
            <a:r>
              <a:rPr lang="en" sz="800">
                <a:solidFill>
                  <a:schemeClr val="dk2"/>
                </a:solidFill>
              </a:rPr>
              <a:t> </a:t>
            </a:r>
            <a:r>
              <a:rPr lang="en" sz="800">
                <a:solidFill>
                  <a:schemeClr val="dk2"/>
                </a:solidFill>
              </a:rPr>
              <a:t>date and time is not reflected just the reason is reflected - when the meeting is rescheduled multiple times that is also not reflected only last reschedule is reflected. </a:t>
            </a:r>
            <a:endParaRPr sz="800">
              <a:solidFill>
                <a:schemeClr val="dk2"/>
              </a:solidFill>
            </a:endParaRPr>
          </a:p>
        </p:txBody>
      </p:sp>
      <p:pic>
        <p:nvPicPr>
          <p:cNvPr id="402" name="Google Shape;402;p35"/>
          <p:cNvPicPr preferRelativeResize="0"/>
          <p:nvPr/>
        </p:nvPicPr>
        <p:blipFill>
          <a:blip r:embed="rId3">
            <a:alphaModFix/>
          </a:blip>
          <a:stretch>
            <a:fillRect/>
          </a:stretch>
        </p:blipFill>
        <p:spPr>
          <a:xfrm>
            <a:off x="319850" y="516275"/>
            <a:ext cx="5386671" cy="2378951"/>
          </a:xfrm>
          <a:prstGeom prst="rect">
            <a:avLst/>
          </a:prstGeom>
          <a:noFill/>
          <a:ln>
            <a:noFill/>
          </a:ln>
        </p:spPr>
      </p:pic>
      <p:cxnSp>
        <p:nvCxnSpPr>
          <p:cNvPr id="403" name="Google Shape;403;p35"/>
          <p:cNvCxnSpPr/>
          <p:nvPr/>
        </p:nvCxnSpPr>
        <p:spPr>
          <a:xfrm flipH="1" rot="10800000">
            <a:off x="3935600" y="1700500"/>
            <a:ext cx="2376000" cy="10500"/>
          </a:xfrm>
          <a:prstGeom prst="straightConnector1">
            <a:avLst/>
          </a:prstGeom>
          <a:noFill/>
          <a:ln cap="flat" cmpd="sng" w="9525">
            <a:solidFill>
              <a:schemeClr val="dk2"/>
            </a:solidFill>
            <a:prstDash val="solid"/>
            <a:round/>
            <a:headEnd len="med" w="med" type="none"/>
            <a:tailEnd len="med" w="med" type="none"/>
          </a:ln>
        </p:spPr>
      </p:cxnSp>
      <p:pic>
        <p:nvPicPr>
          <p:cNvPr id="404" name="Google Shape;404;p35"/>
          <p:cNvPicPr preferRelativeResize="0"/>
          <p:nvPr/>
        </p:nvPicPr>
        <p:blipFill>
          <a:blip r:embed="rId4">
            <a:alphaModFix/>
          </a:blip>
          <a:stretch>
            <a:fillRect/>
          </a:stretch>
        </p:blipFill>
        <p:spPr>
          <a:xfrm>
            <a:off x="457950" y="2818350"/>
            <a:ext cx="3196501" cy="2258151"/>
          </a:xfrm>
          <a:prstGeom prst="rect">
            <a:avLst/>
          </a:prstGeom>
          <a:noFill/>
          <a:ln>
            <a:noFill/>
          </a:ln>
        </p:spPr>
      </p:pic>
      <p:cxnSp>
        <p:nvCxnSpPr>
          <p:cNvPr id="405" name="Google Shape;405;p35"/>
          <p:cNvCxnSpPr/>
          <p:nvPr/>
        </p:nvCxnSpPr>
        <p:spPr>
          <a:xfrm flipH="1" rot="10800000">
            <a:off x="2811025" y="3300975"/>
            <a:ext cx="2538600" cy="289500"/>
          </a:xfrm>
          <a:prstGeom prst="straightConnector1">
            <a:avLst/>
          </a:prstGeom>
          <a:noFill/>
          <a:ln cap="flat" cmpd="sng" w="9525">
            <a:solidFill>
              <a:schemeClr val="dk2"/>
            </a:solidFill>
            <a:prstDash val="solid"/>
            <a:round/>
            <a:headEnd len="med" w="med" type="none"/>
            <a:tailEnd len="med" w="med" type="none"/>
          </a:ln>
        </p:spPr>
      </p:cxnSp>
      <p:sp>
        <p:nvSpPr>
          <p:cNvPr id="406" name="Google Shape;406;p35"/>
          <p:cNvSpPr txBox="1"/>
          <p:nvPr/>
        </p:nvSpPr>
        <p:spPr>
          <a:xfrm>
            <a:off x="5239350" y="3139375"/>
            <a:ext cx="3396000" cy="11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Couldnt mark no show cause reason tab is not present to fill </a:t>
            </a:r>
            <a:endParaRPr sz="800">
              <a:solidFill>
                <a:schemeClr val="dk2"/>
              </a:solidFill>
            </a:endParaRPr>
          </a:p>
        </p:txBody>
      </p:sp>
      <p:pic>
        <p:nvPicPr>
          <p:cNvPr id="407" name="Google Shape;407;p35"/>
          <p:cNvPicPr preferRelativeResize="0"/>
          <p:nvPr/>
        </p:nvPicPr>
        <p:blipFill>
          <a:blip r:embed="rId5">
            <a:alphaModFix/>
          </a:blip>
          <a:stretch>
            <a:fillRect/>
          </a:stretch>
        </p:blipFill>
        <p:spPr>
          <a:xfrm>
            <a:off x="4754125" y="3445097"/>
            <a:ext cx="3196501" cy="1631403"/>
          </a:xfrm>
          <a:prstGeom prst="rect">
            <a:avLst/>
          </a:prstGeom>
          <a:noFill/>
          <a:ln>
            <a:noFill/>
          </a:ln>
        </p:spPr>
      </p:pic>
      <p:sp>
        <p:nvSpPr>
          <p:cNvPr id="408" name="Google Shape;408;p35"/>
          <p:cNvSpPr/>
          <p:nvPr/>
        </p:nvSpPr>
        <p:spPr>
          <a:xfrm>
            <a:off x="1109075" y="1082975"/>
            <a:ext cx="639300" cy="289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09" name="Google Shape;409;p35"/>
          <p:cNvCxnSpPr>
            <a:stCxn id="408" idx="7"/>
          </p:cNvCxnSpPr>
          <p:nvPr/>
        </p:nvCxnSpPr>
        <p:spPr>
          <a:xfrm rot="-5400000">
            <a:off x="3709302" y="-1780579"/>
            <a:ext cx="851400" cy="4960500"/>
          </a:xfrm>
          <a:prstGeom prst="curvedConnector2">
            <a:avLst/>
          </a:prstGeom>
          <a:noFill/>
          <a:ln cap="flat" cmpd="sng" w="9525">
            <a:solidFill>
              <a:schemeClr val="dk2"/>
            </a:solidFill>
            <a:prstDash val="solid"/>
            <a:round/>
            <a:headEnd len="med" w="med" type="none"/>
            <a:tailEnd len="med" w="med" type="none"/>
          </a:ln>
        </p:spPr>
      </p:cxnSp>
      <p:sp>
        <p:nvSpPr>
          <p:cNvPr id="410" name="Google Shape;410;p35"/>
          <p:cNvSpPr txBox="1"/>
          <p:nvPr/>
        </p:nvSpPr>
        <p:spPr>
          <a:xfrm>
            <a:off x="6602350" y="88175"/>
            <a:ext cx="21459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When rescheduled mark it as reschedule  and create a new schedule meeting </a:t>
            </a:r>
            <a:endParaRPr sz="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pic>
        <p:nvPicPr>
          <p:cNvPr id="415" name="Google Shape;415;p36"/>
          <p:cNvPicPr preferRelativeResize="0"/>
          <p:nvPr/>
        </p:nvPicPr>
        <p:blipFill>
          <a:blip r:embed="rId3">
            <a:alphaModFix/>
          </a:blip>
          <a:stretch>
            <a:fillRect/>
          </a:stretch>
        </p:blipFill>
        <p:spPr>
          <a:xfrm>
            <a:off x="152400" y="152400"/>
            <a:ext cx="7012735" cy="4838702"/>
          </a:xfrm>
          <a:prstGeom prst="rect">
            <a:avLst/>
          </a:prstGeom>
          <a:noFill/>
          <a:ln>
            <a:noFill/>
          </a:ln>
        </p:spPr>
      </p:pic>
      <p:sp>
        <p:nvSpPr>
          <p:cNvPr id="416" name="Google Shape;416;p36"/>
          <p:cNvSpPr txBox="1"/>
          <p:nvPr/>
        </p:nvSpPr>
        <p:spPr>
          <a:xfrm>
            <a:off x="7006750" y="1128450"/>
            <a:ext cx="21372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Similarly like how pp1 , pp2 is represented - dql 1 , dql 2 can also be reflected or ob 1 , ob 2 etc. . </a:t>
            </a:r>
            <a:endParaRPr sz="800">
              <a:solidFill>
                <a:schemeClr val="dk2"/>
              </a:solidFill>
            </a:endParaRPr>
          </a:p>
        </p:txBody>
      </p:sp>
      <p:sp>
        <p:nvSpPr>
          <p:cNvPr id="417" name="Google Shape;417;p36"/>
          <p:cNvSpPr txBox="1"/>
          <p:nvPr/>
        </p:nvSpPr>
        <p:spPr>
          <a:xfrm>
            <a:off x="7006750" y="2324675"/>
            <a:ext cx="21372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Once the meeting is marked completed and files are </a:t>
            </a:r>
            <a:r>
              <a:rPr lang="en" sz="800">
                <a:solidFill>
                  <a:schemeClr val="dk2"/>
                </a:solidFill>
              </a:rPr>
              <a:t>uploaded</a:t>
            </a:r>
            <a:r>
              <a:rPr lang="en" sz="800">
                <a:solidFill>
                  <a:schemeClr val="dk2"/>
                </a:solidFill>
              </a:rPr>
              <a:t> and any other stage criteria is done auto pop up tab for stage moval approval - this is for any stage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Can move lead directly from dql to pp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Floor plan is mandatory to move to dql stage </a:t>
            </a:r>
            <a:endParaRPr sz="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7"/>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423" name="Google Shape;423;p37"/>
          <p:cNvPicPr preferRelativeResize="0"/>
          <p:nvPr/>
        </p:nvPicPr>
        <p:blipFill>
          <a:blip r:embed="rId3">
            <a:alphaModFix/>
          </a:blip>
          <a:stretch>
            <a:fillRect/>
          </a:stretch>
        </p:blipFill>
        <p:spPr>
          <a:xfrm>
            <a:off x="152400" y="516275"/>
            <a:ext cx="5293139" cy="4322425"/>
          </a:xfrm>
          <a:prstGeom prst="rect">
            <a:avLst/>
          </a:prstGeom>
          <a:noFill/>
          <a:ln>
            <a:noFill/>
          </a:ln>
        </p:spPr>
      </p:pic>
      <p:cxnSp>
        <p:nvCxnSpPr>
          <p:cNvPr id="424" name="Google Shape;424;p37"/>
          <p:cNvCxnSpPr/>
          <p:nvPr/>
        </p:nvCxnSpPr>
        <p:spPr>
          <a:xfrm>
            <a:off x="3992675" y="3066275"/>
            <a:ext cx="2009400" cy="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37"/>
          <p:cNvSpPr txBox="1"/>
          <p:nvPr/>
        </p:nvSpPr>
        <p:spPr>
          <a:xfrm>
            <a:off x="6034650" y="2907125"/>
            <a:ext cx="21459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File attachment not link  </a:t>
            </a:r>
            <a:endParaRPr sz="800">
              <a:solidFill>
                <a:schemeClr val="dk2"/>
              </a:solidFill>
            </a:endParaRPr>
          </a:p>
        </p:txBody>
      </p:sp>
      <p:cxnSp>
        <p:nvCxnSpPr>
          <p:cNvPr id="426" name="Google Shape;426;p37"/>
          <p:cNvCxnSpPr/>
          <p:nvPr/>
        </p:nvCxnSpPr>
        <p:spPr>
          <a:xfrm flipH="1" rot="10800000">
            <a:off x="3470750" y="4501400"/>
            <a:ext cx="2531400" cy="13200"/>
          </a:xfrm>
          <a:prstGeom prst="straightConnector1">
            <a:avLst/>
          </a:prstGeom>
          <a:noFill/>
          <a:ln cap="flat" cmpd="sng" w="9525">
            <a:solidFill>
              <a:schemeClr val="dk2"/>
            </a:solidFill>
            <a:prstDash val="solid"/>
            <a:round/>
            <a:headEnd len="med" w="med" type="none"/>
            <a:tailEnd len="med" w="med" type="none"/>
          </a:ln>
        </p:spPr>
      </p:cxnSp>
      <p:sp>
        <p:nvSpPr>
          <p:cNvPr id="427" name="Google Shape;427;p37"/>
          <p:cNvSpPr txBox="1"/>
          <p:nvPr/>
        </p:nvSpPr>
        <p:spPr>
          <a:xfrm>
            <a:off x="6034650" y="4348850"/>
            <a:ext cx="2145900" cy="6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With in 10 % self approval </a:t>
            </a:r>
            <a:endParaRPr sz="800">
              <a:solidFill>
                <a:schemeClr val="dk2"/>
              </a:solidFill>
            </a:endParaRPr>
          </a:p>
          <a:p>
            <a:pPr indent="0" lvl="0" marL="0" rtl="0" algn="l">
              <a:spcBef>
                <a:spcPts val="0"/>
              </a:spcBef>
              <a:spcAft>
                <a:spcPts val="0"/>
              </a:spcAft>
              <a:buNone/>
            </a:pPr>
            <a:r>
              <a:rPr lang="en" sz="800">
                <a:solidFill>
                  <a:schemeClr val="dk2"/>
                </a:solidFill>
              </a:rPr>
              <a:t>15% - BL approval </a:t>
            </a:r>
            <a:endParaRPr sz="800">
              <a:solidFill>
                <a:schemeClr val="dk2"/>
              </a:solidFill>
            </a:endParaRPr>
          </a:p>
          <a:p>
            <a:pPr indent="0" lvl="0" marL="0" rtl="0" algn="l">
              <a:spcBef>
                <a:spcPts val="0"/>
              </a:spcBef>
              <a:spcAft>
                <a:spcPts val="0"/>
              </a:spcAft>
              <a:buNone/>
            </a:pPr>
            <a:r>
              <a:rPr lang="en" sz="800">
                <a:solidFill>
                  <a:schemeClr val="dk2"/>
                </a:solidFill>
              </a:rPr>
              <a:t>20 % </a:t>
            </a:r>
            <a:r>
              <a:rPr lang="en" sz="800">
                <a:solidFill>
                  <a:schemeClr val="dk2"/>
                </a:solidFill>
              </a:rPr>
              <a:t>Business</a:t>
            </a:r>
            <a:r>
              <a:rPr lang="en" sz="800">
                <a:solidFill>
                  <a:schemeClr val="dk2"/>
                </a:solidFill>
              </a:rPr>
              <a:t> head approval </a:t>
            </a:r>
            <a:endParaRPr sz="800">
              <a:solidFill>
                <a:schemeClr val="dk2"/>
              </a:solidFill>
            </a:endParaRPr>
          </a:p>
          <a:p>
            <a:pPr indent="0" lvl="0" marL="0" rtl="0" algn="l">
              <a:spcBef>
                <a:spcPts val="0"/>
              </a:spcBef>
              <a:spcAft>
                <a:spcPts val="0"/>
              </a:spcAft>
              <a:buNone/>
            </a:pPr>
            <a:r>
              <a:rPr lang="en" sz="800">
                <a:solidFill>
                  <a:schemeClr val="dk2"/>
                </a:solidFill>
              </a:rPr>
              <a:t>Above 20% - special approval from Branch head</a:t>
            </a:r>
            <a:endParaRPr sz="800">
              <a:solidFill>
                <a:schemeClr val="dk2"/>
              </a:solidFill>
            </a:endParaRPr>
          </a:p>
        </p:txBody>
      </p:sp>
      <p:cxnSp>
        <p:nvCxnSpPr>
          <p:cNvPr id="428" name="Google Shape;428;p37"/>
          <p:cNvCxnSpPr/>
          <p:nvPr/>
        </p:nvCxnSpPr>
        <p:spPr>
          <a:xfrm flipH="1" rot="10800000">
            <a:off x="1474425" y="1291725"/>
            <a:ext cx="4423200" cy="11613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429" name="Google Shape;429;p37"/>
          <p:cNvSpPr txBox="1"/>
          <p:nvPr/>
        </p:nvSpPr>
        <p:spPr>
          <a:xfrm>
            <a:off x="5897625" y="1180625"/>
            <a:ext cx="2466000" cy="8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Post discount if the woodwork value comes below 5L - then its not applicable as special case request directed to Branch head</a:t>
            </a:r>
            <a:endParaRPr sz="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8"/>
          <p:cNvSpPr txBox="1"/>
          <p:nvPr/>
        </p:nvSpPr>
        <p:spPr>
          <a:xfrm>
            <a:off x="2734050" y="88175"/>
            <a:ext cx="33006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Designer Lead - Call logs</a:t>
            </a:r>
            <a:endParaRPr b="1" sz="1200">
              <a:solidFill>
                <a:schemeClr val="dk2"/>
              </a:solidFill>
            </a:endParaRPr>
          </a:p>
        </p:txBody>
      </p:sp>
      <p:pic>
        <p:nvPicPr>
          <p:cNvPr id="435" name="Google Shape;435;p38"/>
          <p:cNvPicPr preferRelativeResize="0"/>
          <p:nvPr/>
        </p:nvPicPr>
        <p:blipFill>
          <a:blip r:embed="rId3">
            <a:alphaModFix/>
          </a:blip>
          <a:stretch>
            <a:fillRect/>
          </a:stretch>
        </p:blipFill>
        <p:spPr>
          <a:xfrm>
            <a:off x="152400" y="668675"/>
            <a:ext cx="5592826" cy="4027924"/>
          </a:xfrm>
          <a:prstGeom prst="rect">
            <a:avLst/>
          </a:prstGeom>
          <a:noFill/>
          <a:ln>
            <a:noFill/>
          </a:ln>
        </p:spPr>
      </p:pic>
      <p:sp>
        <p:nvSpPr>
          <p:cNvPr id="436" name="Google Shape;436;p38"/>
          <p:cNvSpPr/>
          <p:nvPr/>
        </p:nvSpPr>
        <p:spPr>
          <a:xfrm>
            <a:off x="4749450" y="756800"/>
            <a:ext cx="495900" cy="2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38"/>
          <p:cNvSpPr txBox="1"/>
          <p:nvPr/>
        </p:nvSpPr>
        <p:spPr>
          <a:xfrm>
            <a:off x="4749450" y="66867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Files</a:t>
            </a:r>
            <a:endParaRPr sz="800">
              <a:solidFill>
                <a:schemeClr val="dk2"/>
              </a:solidFill>
            </a:endParaRPr>
          </a:p>
        </p:txBody>
      </p:sp>
      <p:sp>
        <p:nvSpPr>
          <p:cNvPr id="438" name="Google Shape;438;p38"/>
          <p:cNvSpPr/>
          <p:nvPr/>
        </p:nvSpPr>
        <p:spPr>
          <a:xfrm>
            <a:off x="195725" y="1135175"/>
            <a:ext cx="5441100" cy="345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8"/>
          <p:cNvSpPr/>
          <p:nvPr/>
        </p:nvSpPr>
        <p:spPr>
          <a:xfrm>
            <a:off x="456675" y="1500525"/>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8"/>
          <p:cNvSpPr/>
          <p:nvPr/>
        </p:nvSpPr>
        <p:spPr>
          <a:xfrm>
            <a:off x="1405000" y="1500525"/>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8"/>
          <p:cNvSpPr/>
          <p:nvPr/>
        </p:nvSpPr>
        <p:spPr>
          <a:xfrm>
            <a:off x="2353325" y="1500525"/>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2" name="Google Shape;442;p38"/>
          <p:cNvSpPr/>
          <p:nvPr/>
        </p:nvSpPr>
        <p:spPr>
          <a:xfrm>
            <a:off x="3301650" y="1500525"/>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38"/>
          <p:cNvSpPr/>
          <p:nvPr/>
        </p:nvSpPr>
        <p:spPr>
          <a:xfrm>
            <a:off x="4249975" y="1500525"/>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38"/>
          <p:cNvSpPr/>
          <p:nvPr/>
        </p:nvSpPr>
        <p:spPr>
          <a:xfrm>
            <a:off x="456675" y="2288100"/>
            <a:ext cx="717600" cy="42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38"/>
          <p:cNvSpPr txBox="1"/>
          <p:nvPr/>
        </p:nvSpPr>
        <p:spPr>
          <a:xfrm>
            <a:off x="508875" y="155302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EL </a:t>
            </a:r>
            <a:endParaRPr sz="800">
              <a:solidFill>
                <a:schemeClr val="dk2"/>
              </a:solidFill>
            </a:endParaRPr>
          </a:p>
        </p:txBody>
      </p:sp>
      <p:sp>
        <p:nvSpPr>
          <p:cNvPr id="446" name="Google Shape;446;p38"/>
          <p:cNvSpPr txBox="1"/>
          <p:nvPr/>
        </p:nvSpPr>
        <p:spPr>
          <a:xfrm>
            <a:off x="1457200" y="155302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MQL </a:t>
            </a:r>
            <a:endParaRPr sz="800">
              <a:solidFill>
                <a:schemeClr val="dk2"/>
              </a:solidFill>
            </a:endParaRPr>
          </a:p>
        </p:txBody>
      </p:sp>
      <p:sp>
        <p:nvSpPr>
          <p:cNvPr id="447" name="Google Shape;447;p38"/>
          <p:cNvSpPr txBox="1"/>
          <p:nvPr/>
        </p:nvSpPr>
        <p:spPr>
          <a:xfrm>
            <a:off x="2405525" y="155302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DQL </a:t>
            </a:r>
            <a:endParaRPr sz="800">
              <a:solidFill>
                <a:schemeClr val="dk2"/>
              </a:solidFill>
            </a:endParaRPr>
          </a:p>
        </p:txBody>
      </p:sp>
      <p:sp>
        <p:nvSpPr>
          <p:cNvPr id="448" name="Google Shape;448;p38"/>
          <p:cNvSpPr txBox="1"/>
          <p:nvPr/>
        </p:nvSpPr>
        <p:spPr>
          <a:xfrm>
            <a:off x="3353850" y="155302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PR</a:t>
            </a:r>
            <a:endParaRPr sz="800">
              <a:solidFill>
                <a:schemeClr val="dk2"/>
              </a:solidFill>
            </a:endParaRPr>
          </a:p>
        </p:txBody>
      </p:sp>
      <p:sp>
        <p:nvSpPr>
          <p:cNvPr id="449" name="Google Shape;449;p38"/>
          <p:cNvSpPr txBox="1"/>
          <p:nvPr/>
        </p:nvSpPr>
        <p:spPr>
          <a:xfrm>
            <a:off x="4302175" y="1553025"/>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PP</a:t>
            </a:r>
            <a:endParaRPr sz="800">
              <a:solidFill>
                <a:schemeClr val="dk2"/>
              </a:solidFill>
            </a:endParaRPr>
          </a:p>
        </p:txBody>
      </p:sp>
      <p:sp>
        <p:nvSpPr>
          <p:cNvPr id="450" name="Google Shape;450;p38"/>
          <p:cNvSpPr txBox="1"/>
          <p:nvPr/>
        </p:nvSpPr>
        <p:spPr>
          <a:xfrm>
            <a:off x="508875" y="2340600"/>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OB </a:t>
            </a:r>
            <a:endParaRPr sz="800">
              <a:solidFill>
                <a:schemeClr val="dk2"/>
              </a:solidFill>
            </a:endParaRPr>
          </a:p>
        </p:txBody>
      </p:sp>
      <p:sp>
        <p:nvSpPr>
          <p:cNvPr id="451" name="Google Shape;451;p38"/>
          <p:cNvSpPr txBox="1"/>
          <p:nvPr/>
        </p:nvSpPr>
        <p:spPr>
          <a:xfrm>
            <a:off x="6034650" y="1135175"/>
            <a:ext cx="2877000" cy="345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rPr>
              <a:t>File attached in each stage to be added under that stage folder.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Stage cant be moved if following files are not attached </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n" sz="800">
                <a:solidFill>
                  <a:schemeClr val="dk2"/>
                </a:solidFill>
              </a:rPr>
              <a:t>EL and MQL - Either one should have a floor plan </a:t>
            </a:r>
            <a:endParaRPr sz="800">
              <a:solidFill>
                <a:schemeClr val="dk2"/>
              </a:solidFill>
            </a:endParaRPr>
          </a:p>
          <a:p>
            <a:pPr indent="0" lvl="0" marL="0" rtl="0" algn="l">
              <a:spcBef>
                <a:spcPts val="0"/>
              </a:spcBef>
              <a:spcAft>
                <a:spcPts val="0"/>
              </a:spcAft>
              <a:buNone/>
            </a:pPr>
            <a:r>
              <a:rPr lang="en" sz="800">
                <a:solidFill>
                  <a:schemeClr val="dk2"/>
                </a:solidFill>
              </a:rPr>
              <a:t>DQL - life style capture sheet </a:t>
            </a:r>
            <a:endParaRPr sz="800">
              <a:solidFill>
                <a:schemeClr val="dk2"/>
              </a:solidFill>
            </a:endParaRPr>
          </a:p>
          <a:p>
            <a:pPr indent="0" lvl="0" marL="0" rtl="0" algn="l">
              <a:spcBef>
                <a:spcPts val="0"/>
              </a:spcBef>
              <a:spcAft>
                <a:spcPts val="0"/>
              </a:spcAft>
              <a:buNone/>
            </a:pPr>
            <a:r>
              <a:rPr lang="en" sz="800">
                <a:solidFill>
                  <a:schemeClr val="dk2"/>
                </a:solidFill>
              </a:rPr>
              <a:t>PR - pitch presentation </a:t>
            </a:r>
            <a:endParaRPr sz="800">
              <a:solidFill>
                <a:schemeClr val="dk2"/>
              </a:solidFill>
            </a:endParaRPr>
          </a:p>
          <a:p>
            <a:pPr indent="0" lvl="0" marL="0" rtl="0" algn="l">
              <a:spcBef>
                <a:spcPts val="0"/>
              </a:spcBef>
              <a:spcAft>
                <a:spcPts val="0"/>
              </a:spcAft>
              <a:buNone/>
            </a:pPr>
            <a:r>
              <a:rPr lang="en" sz="800">
                <a:solidFill>
                  <a:schemeClr val="dk2"/>
                </a:solidFill>
              </a:rPr>
              <a:t>Pp - quotation </a:t>
            </a:r>
            <a:endParaRPr sz="800">
              <a:solidFill>
                <a:schemeClr val="dk2"/>
              </a:solidFill>
            </a:endParaRPr>
          </a:p>
          <a:p>
            <a:pPr indent="0" lvl="0" marL="0" rtl="0" algn="l">
              <a:spcBef>
                <a:spcPts val="0"/>
              </a:spcBef>
              <a:spcAft>
                <a:spcPts val="0"/>
              </a:spcAft>
              <a:buNone/>
            </a:pPr>
            <a:r>
              <a:rPr lang="en" sz="800">
                <a:solidFill>
                  <a:schemeClr val="dk2"/>
                </a:solidFill>
              </a:rPr>
              <a:t>Ob - generated quote </a:t>
            </a:r>
            <a:endParaRPr sz="800">
              <a:solidFill>
                <a:schemeClr val="dk2"/>
              </a:solidFill>
            </a:endParaRPr>
          </a:p>
        </p:txBody>
      </p:sp>
      <p:sp>
        <p:nvSpPr>
          <p:cNvPr id="452" name="Google Shape;452;p38"/>
          <p:cNvSpPr txBox="1"/>
          <p:nvPr/>
        </p:nvSpPr>
        <p:spPr>
          <a:xfrm>
            <a:off x="1405000" y="2340600"/>
            <a:ext cx="6132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9"/>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2"/>
              </a:solidFill>
            </a:endParaRPr>
          </a:p>
        </p:txBody>
      </p:sp>
      <p:sp>
        <p:nvSpPr>
          <p:cNvPr id="458" name="Google Shape;458;p39"/>
          <p:cNvSpPr txBox="1"/>
          <p:nvPr/>
        </p:nvSpPr>
        <p:spPr>
          <a:xfrm>
            <a:off x="0" y="797150"/>
            <a:ext cx="5231400" cy="41007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dk2"/>
              </a:buClr>
              <a:buSzPts val="800"/>
              <a:buAutoNum type="arabicPeriod"/>
            </a:pPr>
            <a:r>
              <a:rPr lang="en" sz="800">
                <a:solidFill>
                  <a:schemeClr val="dk2"/>
                </a:solidFill>
              </a:rPr>
              <a:t>Any stage </a:t>
            </a:r>
            <a:r>
              <a:rPr lang="en" sz="800">
                <a:solidFill>
                  <a:schemeClr val="dk2"/>
                </a:solidFill>
              </a:rPr>
              <a:t>movement</a:t>
            </a:r>
            <a:r>
              <a:rPr lang="en" sz="800">
                <a:solidFill>
                  <a:schemeClr val="dk2"/>
                </a:solidFill>
              </a:rPr>
              <a:t> auto popup intend rating.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If the meetings are calls tried to be completed before the scheduled date and time reopen the time and date capture tab and ask them to record the proper time and date.</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For each stage moval client and internal team will get a notification via mail crm and </a:t>
            </a:r>
            <a:r>
              <a:rPr lang="en" sz="800">
                <a:solidFill>
                  <a:schemeClr val="dk2"/>
                </a:solidFill>
              </a:rPr>
              <a:t>whatsapp</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Intent rating CRE - EL stage </a:t>
            </a:r>
            <a:endParaRPr b="1" sz="800">
              <a:solidFill>
                <a:schemeClr val="dk2"/>
              </a:solidFill>
            </a:endParaRPr>
          </a:p>
          <a:p>
            <a:pPr indent="0" lvl="0" marL="457200" rtl="0" algn="l">
              <a:spcBef>
                <a:spcPts val="0"/>
              </a:spcBef>
              <a:spcAft>
                <a:spcPts val="0"/>
              </a:spcAft>
              <a:buNone/>
            </a:pPr>
            <a:r>
              <a:rPr lang="en" sz="800">
                <a:solidFill>
                  <a:schemeClr val="dk2"/>
                </a:solidFill>
              </a:rPr>
              <a:t>Ec visit - 5 star</a:t>
            </a:r>
            <a:endParaRPr sz="800">
              <a:solidFill>
                <a:schemeClr val="dk2"/>
              </a:solidFill>
            </a:endParaRPr>
          </a:p>
          <a:p>
            <a:pPr indent="0" lvl="0" marL="457200" rtl="0" algn="l">
              <a:spcBef>
                <a:spcPts val="0"/>
              </a:spcBef>
              <a:spcAft>
                <a:spcPts val="0"/>
              </a:spcAft>
              <a:buNone/>
            </a:pPr>
            <a:r>
              <a:rPr lang="en" sz="800">
                <a:solidFill>
                  <a:schemeClr val="dk2"/>
                </a:solidFill>
              </a:rPr>
              <a:t>Site visit - 4 star </a:t>
            </a:r>
            <a:endParaRPr sz="800">
              <a:solidFill>
                <a:schemeClr val="dk2"/>
              </a:solidFill>
            </a:endParaRPr>
          </a:p>
          <a:p>
            <a:pPr indent="0" lvl="0" marL="457200" rtl="0" algn="l">
              <a:spcBef>
                <a:spcPts val="0"/>
              </a:spcBef>
              <a:spcAft>
                <a:spcPts val="0"/>
              </a:spcAft>
              <a:buNone/>
            </a:pPr>
            <a:r>
              <a:rPr lang="en" sz="800">
                <a:solidFill>
                  <a:schemeClr val="dk2"/>
                </a:solidFill>
              </a:rPr>
              <a:t>Virtual - 3 star </a:t>
            </a:r>
            <a:endParaRPr sz="800">
              <a:solidFill>
                <a:schemeClr val="dk2"/>
              </a:solidFill>
            </a:endParaRPr>
          </a:p>
          <a:p>
            <a:pPr indent="0" lvl="0" marL="457200" rtl="0" algn="l">
              <a:spcBef>
                <a:spcPts val="0"/>
              </a:spcBef>
              <a:spcAft>
                <a:spcPts val="0"/>
              </a:spcAft>
              <a:buNone/>
            </a:pPr>
            <a:r>
              <a:rPr lang="en" sz="800">
                <a:solidFill>
                  <a:schemeClr val="dk2"/>
                </a:solidFill>
              </a:rPr>
              <a:t>Call back - 2 star</a:t>
            </a:r>
            <a:endParaRPr sz="800">
              <a:solidFill>
                <a:schemeClr val="dk2"/>
              </a:solidFill>
            </a:endParaRPr>
          </a:p>
          <a:p>
            <a:pPr indent="0" lvl="0" marL="457200" rtl="0" algn="l">
              <a:spcBef>
                <a:spcPts val="0"/>
              </a:spcBef>
              <a:spcAft>
                <a:spcPts val="0"/>
              </a:spcAft>
              <a:buNone/>
            </a:pPr>
            <a:r>
              <a:rPr lang="en" sz="800">
                <a:solidFill>
                  <a:schemeClr val="dk2"/>
                </a:solidFill>
              </a:rPr>
              <a:t>No action planned -1 star - if one star stage cant be moved.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Intent rating designer - DQL  stage </a:t>
            </a:r>
            <a:endParaRPr b="1" sz="800">
              <a:solidFill>
                <a:schemeClr val="dk2"/>
              </a:solidFill>
            </a:endParaRPr>
          </a:p>
          <a:p>
            <a:pPr indent="0" lvl="0" marL="457200" rtl="0" algn="l">
              <a:spcBef>
                <a:spcPts val="0"/>
              </a:spcBef>
              <a:spcAft>
                <a:spcPts val="0"/>
              </a:spcAft>
              <a:buNone/>
            </a:pPr>
            <a:r>
              <a:rPr lang="en" sz="800">
                <a:solidFill>
                  <a:schemeClr val="dk2"/>
                </a:solidFill>
              </a:rPr>
              <a:t>Ec visit - 5 star</a:t>
            </a:r>
            <a:endParaRPr sz="800">
              <a:solidFill>
                <a:schemeClr val="dk2"/>
              </a:solidFill>
            </a:endParaRPr>
          </a:p>
          <a:p>
            <a:pPr indent="0" lvl="0" marL="457200" rtl="0" algn="l">
              <a:spcBef>
                <a:spcPts val="0"/>
              </a:spcBef>
              <a:spcAft>
                <a:spcPts val="0"/>
              </a:spcAft>
              <a:buNone/>
            </a:pPr>
            <a:r>
              <a:rPr lang="en" sz="800">
                <a:solidFill>
                  <a:schemeClr val="dk2"/>
                </a:solidFill>
              </a:rPr>
              <a:t>Site visit - 4 star </a:t>
            </a:r>
            <a:endParaRPr sz="800">
              <a:solidFill>
                <a:schemeClr val="dk2"/>
              </a:solidFill>
            </a:endParaRPr>
          </a:p>
          <a:p>
            <a:pPr indent="0" lvl="0" marL="457200" rtl="0" algn="l">
              <a:spcBef>
                <a:spcPts val="0"/>
              </a:spcBef>
              <a:spcAft>
                <a:spcPts val="0"/>
              </a:spcAft>
              <a:buNone/>
            </a:pPr>
            <a:r>
              <a:rPr lang="en" sz="800">
                <a:solidFill>
                  <a:schemeClr val="dk2"/>
                </a:solidFill>
              </a:rPr>
              <a:t>Virtual - 3 star </a:t>
            </a:r>
            <a:endParaRPr sz="800">
              <a:solidFill>
                <a:schemeClr val="dk2"/>
              </a:solidFill>
            </a:endParaRPr>
          </a:p>
          <a:p>
            <a:pPr indent="0" lvl="0" marL="457200" rtl="0" algn="l">
              <a:spcBef>
                <a:spcPts val="0"/>
              </a:spcBef>
              <a:spcAft>
                <a:spcPts val="0"/>
              </a:spcAft>
              <a:buNone/>
            </a:pPr>
            <a:r>
              <a:rPr lang="en" sz="800">
                <a:solidFill>
                  <a:schemeClr val="dk2"/>
                </a:solidFill>
              </a:rPr>
              <a:t>Call back - 2 star</a:t>
            </a:r>
            <a:endParaRPr sz="800">
              <a:solidFill>
                <a:schemeClr val="dk2"/>
              </a:solidFill>
            </a:endParaRPr>
          </a:p>
          <a:p>
            <a:pPr indent="0" lvl="0" marL="457200" rtl="0" algn="l">
              <a:spcBef>
                <a:spcPts val="0"/>
              </a:spcBef>
              <a:spcAft>
                <a:spcPts val="0"/>
              </a:spcAft>
              <a:buNone/>
            </a:pPr>
            <a:r>
              <a:rPr lang="en" sz="800">
                <a:solidFill>
                  <a:schemeClr val="dk2"/>
                </a:solidFill>
              </a:rPr>
              <a:t>No action planned -1 star - if one star stage cant be moved.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Intent rating designer - PR   stage </a:t>
            </a:r>
            <a:endParaRPr b="1" sz="800">
              <a:solidFill>
                <a:schemeClr val="dk2"/>
              </a:solidFill>
            </a:endParaRPr>
          </a:p>
          <a:p>
            <a:pPr indent="0" lvl="0" marL="457200" rtl="0" algn="l">
              <a:spcBef>
                <a:spcPts val="0"/>
              </a:spcBef>
              <a:spcAft>
                <a:spcPts val="0"/>
              </a:spcAft>
              <a:buNone/>
            </a:pPr>
            <a:r>
              <a:rPr lang="en" sz="800">
                <a:solidFill>
                  <a:schemeClr val="dk2"/>
                </a:solidFill>
              </a:rPr>
              <a:t>Auto detect Intent is not applicable - only manual rating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Intent rating designer - pp  stage </a:t>
            </a:r>
            <a:endParaRPr b="1" sz="800">
              <a:solidFill>
                <a:schemeClr val="dk2"/>
              </a:solidFill>
            </a:endParaRPr>
          </a:p>
          <a:p>
            <a:pPr indent="0" lvl="0" marL="457200" rtl="0" algn="l">
              <a:spcBef>
                <a:spcPts val="0"/>
              </a:spcBef>
              <a:spcAft>
                <a:spcPts val="0"/>
              </a:spcAft>
              <a:buNone/>
            </a:pPr>
            <a:r>
              <a:rPr lang="en" sz="800">
                <a:solidFill>
                  <a:schemeClr val="dk2"/>
                </a:solidFill>
              </a:rPr>
              <a:t>Ec visit - 5 star</a:t>
            </a:r>
            <a:endParaRPr sz="800">
              <a:solidFill>
                <a:schemeClr val="dk2"/>
              </a:solidFill>
            </a:endParaRPr>
          </a:p>
          <a:p>
            <a:pPr indent="0" lvl="0" marL="457200" rtl="0" algn="l">
              <a:spcBef>
                <a:spcPts val="0"/>
              </a:spcBef>
              <a:spcAft>
                <a:spcPts val="0"/>
              </a:spcAft>
              <a:buNone/>
            </a:pPr>
            <a:r>
              <a:rPr lang="en" sz="800">
                <a:solidFill>
                  <a:schemeClr val="dk2"/>
                </a:solidFill>
              </a:rPr>
              <a:t>Site visit - 4 star </a:t>
            </a:r>
            <a:endParaRPr sz="800">
              <a:solidFill>
                <a:schemeClr val="dk2"/>
              </a:solidFill>
            </a:endParaRPr>
          </a:p>
          <a:p>
            <a:pPr indent="0" lvl="0" marL="457200" rtl="0" algn="l">
              <a:spcBef>
                <a:spcPts val="0"/>
              </a:spcBef>
              <a:spcAft>
                <a:spcPts val="0"/>
              </a:spcAft>
              <a:buNone/>
            </a:pPr>
            <a:r>
              <a:rPr lang="en" sz="800">
                <a:solidFill>
                  <a:schemeClr val="dk2"/>
                </a:solidFill>
              </a:rPr>
              <a:t>Virtual - 3 star </a:t>
            </a:r>
            <a:endParaRPr sz="800">
              <a:solidFill>
                <a:schemeClr val="dk2"/>
              </a:solidFill>
            </a:endParaRPr>
          </a:p>
          <a:p>
            <a:pPr indent="0" lvl="0" marL="457200" rtl="0" algn="l">
              <a:spcBef>
                <a:spcPts val="0"/>
              </a:spcBef>
              <a:spcAft>
                <a:spcPts val="0"/>
              </a:spcAft>
              <a:buNone/>
            </a:pPr>
            <a:r>
              <a:rPr lang="en" sz="800">
                <a:solidFill>
                  <a:schemeClr val="dk2"/>
                </a:solidFill>
              </a:rPr>
              <a:t>Call back - 2 star</a:t>
            </a:r>
            <a:endParaRPr sz="800">
              <a:solidFill>
                <a:schemeClr val="dk2"/>
              </a:solidFill>
            </a:endParaRPr>
          </a:p>
          <a:p>
            <a:pPr indent="0" lvl="0" marL="457200" rtl="0" algn="l">
              <a:spcBef>
                <a:spcPts val="0"/>
              </a:spcBef>
              <a:spcAft>
                <a:spcPts val="0"/>
              </a:spcAft>
              <a:buNone/>
            </a:pPr>
            <a:r>
              <a:rPr lang="en" sz="800">
                <a:solidFill>
                  <a:schemeClr val="dk2"/>
                </a:solidFill>
              </a:rPr>
              <a:t>No response -1 star - if one star stage cant be moved.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b="1" lang="en" sz="800">
                <a:solidFill>
                  <a:schemeClr val="dk2"/>
                </a:solidFill>
              </a:rPr>
              <a:t>Intent rating designer - pp  stage  - </a:t>
            </a:r>
            <a:r>
              <a:rPr lang="en" sz="800">
                <a:solidFill>
                  <a:schemeClr val="dk2"/>
                </a:solidFill>
              </a:rPr>
              <a:t>same as pp </a:t>
            </a:r>
            <a:endParaRPr b="1"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
        <p:nvSpPr>
          <p:cNvPr id="459" name="Google Shape;459;p39"/>
          <p:cNvSpPr txBox="1"/>
          <p:nvPr/>
        </p:nvSpPr>
        <p:spPr>
          <a:xfrm>
            <a:off x="5436800" y="962600"/>
            <a:ext cx="3579300" cy="41007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dk2"/>
              </a:buClr>
              <a:buSzPts val="800"/>
              <a:buAutoNum type="arabicPeriod"/>
            </a:pPr>
            <a:r>
              <a:rPr lang="en" sz="800">
                <a:solidFill>
                  <a:schemeClr val="dk2"/>
                </a:solidFill>
              </a:rPr>
              <a:t>Once MQL is marked completed - key facts tab to be opened - to be edited - handover date ,, est value - rest is all cant be edited.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Once PP is marked completed - key facts tab to be opened - mandatory to fill - expected cx budget - dex proposed budget - expected move in date - proposed move in date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0"/>
          <p:cNvSpPr txBox="1"/>
          <p:nvPr/>
        </p:nvSpPr>
        <p:spPr>
          <a:xfrm>
            <a:off x="2734050" y="88175"/>
            <a:ext cx="1837800" cy="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rPr>
              <a:t>Admin portal track </a:t>
            </a:r>
            <a:endParaRPr b="1" sz="1200">
              <a:solidFill>
                <a:schemeClr val="dk2"/>
              </a:solidFill>
            </a:endParaRPr>
          </a:p>
        </p:txBody>
      </p:sp>
      <p:sp>
        <p:nvSpPr>
          <p:cNvPr id="465" name="Google Shape;465;p40"/>
          <p:cNvSpPr txBox="1"/>
          <p:nvPr/>
        </p:nvSpPr>
        <p:spPr>
          <a:xfrm>
            <a:off x="691825" y="718875"/>
            <a:ext cx="5231400" cy="4100700"/>
          </a:xfrm>
          <a:prstGeom prst="rect">
            <a:avLst/>
          </a:prstGeom>
          <a:no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dk2"/>
              </a:buClr>
              <a:buSzPts val="800"/>
              <a:buAutoNum type="arabicPeriod"/>
            </a:pPr>
            <a:r>
              <a:rPr lang="en" sz="800">
                <a:solidFill>
                  <a:schemeClr val="dk2"/>
                </a:solidFill>
              </a:rPr>
              <a:t>Offers given or rolled out. Which we can add anytime .  We should be able to activate or inactivate or onhold the offers.  Offers that are not active should show in the drop down but should not be able to select.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457200" rtl="0" algn="l">
              <a:spcBef>
                <a:spcPts val="0"/>
              </a:spcBef>
              <a:spcAft>
                <a:spcPts val="0"/>
              </a:spcAft>
              <a:buNone/>
            </a:pPr>
            <a:r>
              <a:rPr lang="en" sz="800">
                <a:solidFill>
                  <a:schemeClr val="dk2"/>
                </a:solidFill>
              </a:rPr>
              <a:t>Offer 1 </a:t>
            </a:r>
            <a:endParaRPr sz="800">
              <a:solidFill>
                <a:schemeClr val="dk2"/>
              </a:solidFill>
            </a:endParaRPr>
          </a:p>
          <a:p>
            <a:pPr indent="0" lvl="0" marL="457200" rtl="0" algn="l">
              <a:spcBef>
                <a:spcPts val="0"/>
              </a:spcBef>
              <a:spcAft>
                <a:spcPts val="0"/>
              </a:spcAft>
              <a:buNone/>
            </a:pPr>
            <a:r>
              <a:rPr lang="en" sz="800">
                <a:solidFill>
                  <a:schemeClr val="dk2"/>
                </a:solidFill>
              </a:rPr>
              <a:t>Offer 2 </a:t>
            </a:r>
            <a:endParaRPr sz="800">
              <a:solidFill>
                <a:schemeClr val="dk2"/>
              </a:solidFill>
            </a:endParaRPr>
          </a:p>
          <a:p>
            <a:pPr indent="0" lvl="0" marL="457200" rtl="0" algn="l">
              <a:spcBef>
                <a:spcPts val="0"/>
              </a:spcBef>
              <a:spcAft>
                <a:spcPts val="0"/>
              </a:spcAft>
              <a:buNone/>
            </a:pPr>
            <a:r>
              <a:rPr lang="en" sz="800">
                <a:solidFill>
                  <a:schemeClr val="dk2"/>
                </a:solidFill>
              </a:rPr>
              <a:t>Offer 3</a:t>
            </a:r>
            <a:endParaRPr sz="800">
              <a:solidFill>
                <a:schemeClr val="dk2"/>
              </a:solidFill>
            </a:endParaRPr>
          </a:p>
          <a:p>
            <a:pPr indent="0" lvl="0" marL="457200" rtl="0" algn="l">
              <a:spcBef>
                <a:spcPts val="0"/>
              </a:spcBef>
              <a:spcAft>
                <a:spcPts val="0"/>
              </a:spcAft>
              <a:buNone/>
            </a:pPr>
            <a:r>
              <a:rPr lang="en" sz="800">
                <a:solidFill>
                  <a:schemeClr val="dk2"/>
                </a:solidFill>
              </a:rPr>
              <a:t>N/A</a:t>
            </a:r>
            <a:endParaRPr sz="800">
              <a:solidFill>
                <a:schemeClr val="dk2"/>
              </a:solidFill>
            </a:endParaRPr>
          </a:p>
          <a:p>
            <a:pPr indent="0" lvl="0" marL="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Lead source - need a separate admin space where we can add the campaign details anytime </a:t>
            </a:r>
            <a:endParaRPr sz="800">
              <a:solidFill>
                <a:schemeClr val="dk2"/>
              </a:solidFill>
            </a:endParaRPr>
          </a:p>
          <a:p>
            <a:pPr indent="0" lvl="0" marL="457200" rtl="0" algn="l">
              <a:spcBef>
                <a:spcPts val="0"/>
              </a:spcBef>
              <a:spcAft>
                <a:spcPts val="0"/>
              </a:spcAft>
              <a:buNone/>
            </a:pPr>
            <a:r>
              <a:rPr lang="en" sz="800">
                <a:solidFill>
                  <a:schemeClr val="dk2"/>
                </a:solidFill>
              </a:rPr>
              <a:t>And we should also be able to activate or deactivate the campaign - but when we deactivate it data with that campaign shouldn't be lost.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Target tab for each role to be added in admin tab - month on month target changes so based on thet internal credits points for incentive to be auto calculated</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Nps portal of each team member ( designer + project manager) to be shown </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0" lvl="0" marL="457200" rtl="0" algn="l">
              <a:spcBef>
                <a:spcPts val="0"/>
              </a:spcBef>
              <a:spcAft>
                <a:spcPts val="0"/>
              </a:spcAft>
              <a:buNone/>
            </a:pPr>
            <a:r>
              <a:rPr lang="en" sz="800">
                <a:solidFill>
                  <a:schemeClr val="dk2"/>
                </a:solidFill>
              </a:rPr>
              <a:t>Cohort 1 - Manager (Average Nps) - team member (Average Nps) - each client (Average Nps) - stage nps rating.</a:t>
            </a:r>
            <a:endParaRPr sz="800">
              <a:solidFill>
                <a:schemeClr val="dk2"/>
              </a:solidFill>
            </a:endParaRPr>
          </a:p>
          <a:p>
            <a:pPr indent="0" lvl="0" marL="457200" rtl="0" algn="l">
              <a:spcBef>
                <a:spcPts val="0"/>
              </a:spcBef>
              <a:spcAft>
                <a:spcPts val="0"/>
              </a:spcAft>
              <a:buNone/>
            </a:pPr>
            <a:r>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Team member portal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TAT report for all the stages and when stage is moved backward </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Number of meetings / calls taken per stage for each project</a:t>
            </a:r>
            <a:endParaRPr sz="800">
              <a:solidFill>
                <a:schemeClr val="dk2"/>
              </a:solidFill>
            </a:endParaRPr>
          </a:p>
          <a:p>
            <a:pPr indent="-279400" lvl="0" marL="457200" rtl="0" algn="l">
              <a:spcBef>
                <a:spcPts val="0"/>
              </a:spcBef>
              <a:spcAft>
                <a:spcPts val="0"/>
              </a:spcAft>
              <a:buClr>
                <a:schemeClr val="dk2"/>
              </a:buClr>
              <a:buSzPts val="800"/>
              <a:buAutoNum type="arabicPeriod"/>
            </a:pPr>
            <a:r>
              <a:rPr lang="en" sz="800">
                <a:solidFill>
                  <a:schemeClr val="dk2"/>
                </a:solidFill>
              </a:rPr>
              <a:t>TAT for each stage is to be given - where to see total number of days projects was in and number of active days and onhold days - tat has to be calculated from project active days. </a:t>
            </a:r>
            <a:endParaRPr sz="800">
              <a:solidFill>
                <a:schemeClr val="dk2"/>
              </a:solidFill>
            </a:endParaRPr>
          </a:p>
          <a:p>
            <a:pPr indent="0" lvl="0" marL="0" rtl="0" algn="l">
              <a:spcBef>
                <a:spcPts val="0"/>
              </a:spcBef>
              <a:spcAft>
                <a:spcPts val="0"/>
              </a:spcAft>
              <a:buNone/>
            </a:pPr>
            <a:r>
              <a:t/>
            </a:r>
            <a:endParaRPr sz="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